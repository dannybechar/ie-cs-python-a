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00200"/>
            <a:ext cx="106984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3600" b="1">
                <a:solidFill>
                  <a:srgbClr val="23CFC4"/>
                </a:solidFill>
                <a:latin typeface="Arial"/>
              </a:defRPr>
            </a:pPr>
            <a:r>
              <a:t>יחידה 1 · התוכנית הראשונה שלי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9966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2200" b="1">
                <a:solidFill>
                  <a:srgbClr val="F5F7FA"/>
                </a:solidFill>
                <a:latin typeface="Arial"/>
              </a:defRPr>
            </a:pPr>
            <a:r>
              <a:t>סדר · פלט · תיעוד · פונקציה ראשונה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46120"/>
            <a:ext cx="9966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1500" b="0">
                <a:solidFill>
                  <a:srgbClr val="A8B2C8"/>
                </a:solidFill>
                <a:latin typeface="Arial"/>
              </a:defRPr>
            </a:pPr>
            <a:r>
              <a:t>Python A · כיתה ז׳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66360"/>
            <a:ext cx="9966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B124"/>
                </a:solidFill>
                <a:latin typeface="Arial"/>
              </a:defRPr>
            </a:pPr>
            <a:r>
              <a:t>Predict before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לפני שמריצים — מה יודפס?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300" b="0">
                <a:solidFill>
                  <a:srgbClr val="A8B2C8"/>
                </a:solidFill>
                <a:latin typeface="Arial"/>
              </a:defRPr>
            </a:pPr>
            <a:r>
              <a:t>קודם קוראים. אחר כך חוזים. רק אז מריצים.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920240"/>
            <a:ext cx="7909560" cy="205740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2300">
                <a:solidFill>
                  <a:srgbClr val="F5F7FA"/>
                </a:solidFill>
                <a:latin typeface="Consolas"/>
              </a:defRPr>
            </a:pPr>
            <a:r>
              <a:t>print("Good morning")</a:t>
            </a:r>
            <a:br/>
            <a:r>
              <a:t>print("Welcome to Python")</a:t>
            </a:r>
            <a:br/>
            <a:r>
              <a:t>print("Ready!")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43400"/>
            <a:ext cx="8503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1900" b="1">
                <a:solidFill>
                  <a:srgbClr val="F5F7FA"/>
                </a:solidFill>
                <a:latin typeface="Arial"/>
              </a:defRPr>
            </a:pPr>
            <a:r>
              <a:t>כתבו או אמרו את שלוש שורות הפלט בסדר המדויק.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הסדר משנה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43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300" b="0">
                <a:solidFill>
                  <a:srgbClr val="A8B2C8"/>
                </a:solidFill>
                <a:latin typeface="Arial"/>
              </a:defRPr>
            </a:pPr>
            <a:r>
              <a:t>Python מבצע הוראה אחרי הוראה.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983480" cy="196596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2300">
                <a:solidFill>
                  <a:srgbClr val="F5F7FA"/>
                </a:solidFill>
                <a:latin typeface="Consolas"/>
              </a:defRPr>
            </a:pPr>
            <a:r>
              <a:t>print("A")</a:t>
            </a:r>
            <a:br/>
            <a:r>
              <a:t>print("B")</a:t>
            </a:r>
            <a:br/>
            <a:r>
              <a:t>print("C")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74519"/>
            <a:ext cx="4983480" cy="196596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2300">
                <a:solidFill>
                  <a:srgbClr val="F5F7FA"/>
                </a:solidFill>
                <a:latin typeface="Consolas"/>
              </a:defRPr>
            </a:pPr>
            <a:r>
              <a:t>print("C")</a:t>
            </a:r>
            <a:br/>
            <a:r>
              <a:t>print("A")</a:t>
            </a:r>
            <a:br/>
            <a:r>
              <a:t>print("B")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509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2200" b="1">
                <a:solidFill>
                  <a:srgbClr val="F5F7FA"/>
                </a:solidFill>
                <a:latin typeface="Arial"/>
              </a:defRPr>
            </a:pPr>
            <a:r>
              <a:t>האם שתי התוכניות נותנות אותו פלט?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הוראת print() מציגה פלט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6120" y="1828800"/>
            <a:ext cx="5715000" cy="114300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2800">
                <a:solidFill>
                  <a:srgbClr val="F5F7FA"/>
                </a:solidFill>
                <a:latin typeface="Consolas"/>
              </a:defRPr>
            </a:pPr>
            <a:r>
              <a:t>print("Hello")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657600"/>
            <a:ext cx="3931920" cy="123444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05856" y="3767328"/>
            <a:ext cx="32004" cy="1014984"/>
          </a:xfrm>
          <a:prstGeom prst="rect">
            <a:avLst/>
          </a:prstGeom>
          <a:solidFill>
            <a:srgbClr val="43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93392" y="3767328"/>
            <a:ext cx="3611879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4389FF"/>
                </a:solidFill>
                <a:latin typeface="Arial"/>
              </a:defRPr>
            </a:pPr>
            <a:r>
              <a:t>קוד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4187952"/>
            <a:ext cx="361187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הוראה ש-Python מבצע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657600"/>
            <a:ext cx="3931920" cy="123444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23576" y="3767328"/>
            <a:ext cx="32004" cy="1014984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3767328"/>
            <a:ext cx="3611879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23CFC4"/>
                </a:solidFill>
                <a:latin typeface="Arial"/>
              </a:defRPr>
            </a:pPr>
            <a:r>
              <a:t>פלט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4187952"/>
            <a:ext cx="361187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מה שמופיע על המסך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הערה (comment) מיועדת לאדם שקורא את הקוד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0"/>
            <a:ext cx="7818120" cy="164592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2200">
                <a:solidFill>
                  <a:srgbClr val="F5F7FA"/>
                </a:solidFill>
                <a:latin typeface="Consolas"/>
              </a:defRPr>
            </a:pPr>
            <a:r>
              <a:t># This program prints a greeting</a:t>
            </a:r>
            <a:br/>
            <a:r>
              <a:t>print("Hello")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86200"/>
            <a:ext cx="8503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2200" b="1">
                <a:solidFill>
                  <a:srgbClr val="F5F7FA"/>
                </a:solidFill>
                <a:latin typeface="Arial"/>
              </a:defRPr>
            </a:pPr>
            <a:r>
              <a:t>איזו שורה תופיע בפלט?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754880"/>
            <a:ext cx="8869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1700" b="1">
                <a:solidFill>
                  <a:srgbClr val="FFB124"/>
                </a:solidFill>
                <a:latin typeface="Arial"/>
              </a:defRPr>
            </a:pPr>
            <a:r>
              <a:t># מתחיל הערה. Python לא מבצע אותה כהוראה.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הגדרנו פונקציה. האם היא כבר רצה?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F75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0"/>
            <a:ext cx="7818120" cy="205740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2200">
                <a:solidFill>
                  <a:srgbClr val="F5F7FA"/>
                </a:solidFill>
                <a:latin typeface="Consolas"/>
              </a:defRPr>
            </a:pPr>
            <a:r>
              <a:t>def say_hello():</a:t>
            </a:r>
            <a:br/>
            <a:r>
              <a:t>    print("Hello")</a:t>
            </a:r>
            <a:br/>
            <a:r>
              <a:t>    print("Welcome")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43400"/>
            <a:ext cx="8503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2300" b="1">
                <a:solidFill>
                  <a:srgbClr val="F5F7FA"/>
                </a:solidFill>
                <a:latin typeface="Arial"/>
              </a:defRPr>
            </a:pPr>
            <a:r>
              <a:t>מה יודפס אם נריץ עכשיו?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Define → Call → Execute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300" b="0">
                <a:solidFill>
                  <a:srgbClr val="A8B2C8"/>
                </a:solidFill>
                <a:latin typeface="Arial"/>
              </a:defRPr>
            </a:pPr>
            <a:r>
              <a:t>שלושה שלבים בלבד בשלב הזה.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337560" cy="20116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14216" y="2075688"/>
            <a:ext cx="32004" cy="1792224"/>
          </a:xfrm>
          <a:prstGeom prst="rect">
            <a:avLst/>
          </a:prstGeom>
          <a:solidFill>
            <a:srgbClr val="43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75688"/>
            <a:ext cx="3017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4389FF"/>
                </a:solidFill>
                <a:latin typeface="Arial"/>
              </a:defRPr>
            </a:pPr>
            <a:r>
              <a:t>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96312"/>
            <a:ext cx="301752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מגדירים מה הפונקציה יודעת לעשות.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65960"/>
            <a:ext cx="3337560" cy="20116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08392" y="2075688"/>
            <a:ext cx="32004" cy="1792224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75688"/>
            <a:ext cx="3017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FFB124"/>
                </a:solidFill>
                <a:latin typeface="Arial"/>
              </a:defRPr>
            </a:pPr>
            <a:r>
              <a:t>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96312"/>
            <a:ext cx="301752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מבקשים מ-Python לבצע אותה.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1965960"/>
            <a:ext cx="3337560" cy="20116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93424" y="2075688"/>
            <a:ext cx="32004" cy="1792224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075688"/>
            <a:ext cx="3017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23CFC4"/>
                </a:solidFill>
                <a:latin typeface="Arial"/>
              </a:defRPr>
            </a:pPr>
            <a:r>
              <a:t>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496312"/>
            <a:ext cx="301752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ההוראות שבתוך הפונקציה מתבצעות.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709160"/>
            <a:ext cx="4663440" cy="8686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2400">
                <a:solidFill>
                  <a:srgbClr val="F5F7FA"/>
                </a:solidFill>
                <a:latin typeface="Consolas"/>
              </a:defRPr>
            </a:pPr>
            <a:r>
              <a:t>say_hello()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הזחה: מי שייך לפונקציה?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43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691640"/>
            <a:ext cx="7818120" cy="265176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2100">
                <a:solidFill>
                  <a:srgbClr val="F5F7FA"/>
                </a:solidFill>
                <a:latin typeface="Consolas"/>
              </a:defRPr>
            </a:pPr>
            <a:r>
              <a:t>def introduce_me():</a:t>
            </a:r>
            <a:br/>
            <a:r>
              <a:t>    print("My name is Dana")</a:t>
            </a:r>
            <a:br/>
            <a:r>
              <a:t>    print("I like basketball")</a:t>
            </a:r>
            <a:br/>
            <a:br/>
            <a:r>
              <a:t>introduce_me()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0"/>
            <a:ext cx="9601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1900" b="1">
                <a:solidFill>
                  <a:srgbClr val="F5F7FA"/>
                </a:solidFill>
                <a:latin typeface="Arial"/>
              </a:defRPr>
            </a:pPr>
            <a:r>
              <a:t>כל השורות ששייכות לפונקציה מוזחות פנימה ומיושרות באותה צורה.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עקבו אחרי הקוד: מה יהיה סדר הפלט?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463040"/>
            <a:ext cx="8138160" cy="3977639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1800">
                <a:solidFill>
                  <a:srgbClr val="F5F7FA"/>
                </a:solidFill>
                <a:latin typeface="Consolas"/>
              </a:defRPr>
            </a:pPr>
            <a:r>
              <a:t>print("Start")</a:t>
            </a:r>
            <a:br/>
            <a:br/>
            <a:r>
              <a:t>def say_hello():</a:t>
            </a:r>
            <a:br/>
            <a:r>
              <a:t>    print("Hello")</a:t>
            </a:r>
            <a:br/>
            <a:r>
              <a:t>    print("Welcome")</a:t>
            </a:r>
            <a:br/>
            <a:br/>
            <a:r>
              <a:t>print("Ready")</a:t>
            </a:r>
            <a:br/>
            <a:r>
              <a:t>say_hello()</a:t>
            </a:r>
            <a:br/>
            <a:r>
              <a:t>print("End")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623560"/>
            <a:ext cx="4846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1500" b="1">
                <a:solidFill>
                  <a:srgbClr val="F7556F"/>
                </a:solidFill>
                <a:latin typeface="Arial"/>
              </a:defRPr>
            </a:pPr>
            <a:r>
              <a:t>אל תריצו עדיין.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דרך העבודה שלנו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143000" cy="1051560"/>
          </a:xfrm>
          <a:prstGeom prst="roundRect">
            <a:avLst/>
          </a:prstGeom>
          <a:solidFill>
            <a:srgbClr val="11244D"/>
          </a:solidFill>
          <a:ln>
            <a:solidFill>
              <a:srgbClr val="4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43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389FF"/>
                </a:solidFill>
                <a:latin typeface="Arial"/>
              </a:defRPr>
            </a:pPr>
            <a:r>
              <a:t>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2587752"/>
            <a:ext cx="23774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A8B2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331720"/>
            <a:ext cx="1143000" cy="1051560"/>
          </a:xfrm>
          <a:prstGeom prst="roundRect">
            <a:avLst/>
          </a:prstGeom>
          <a:solidFill>
            <a:srgbClr val="11244D"/>
          </a:solidFill>
          <a:ln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514600"/>
            <a:ext cx="1143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CFC4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2587752"/>
            <a:ext cx="23774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A8B2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331720"/>
            <a:ext cx="1143000" cy="1051560"/>
          </a:xfrm>
          <a:prstGeom prst="roundRect">
            <a:avLst/>
          </a:prstGeom>
          <a:solidFill>
            <a:srgbClr val="11244D"/>
          </a:solidFill>
          <a:ln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514600"/>
            <a:ext cx="1143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B124"/>
                </a:solidFill>
                <a:latin typeface="Arial"/>
              </a:defRPr>
            </a:pPr>
            <a: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587752"/>
            <a:ext cx="23774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A8B2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31720"/>
            <a:ext cx="1143000" cy="1051560"/>
          </a:xfrm>
          <a:prstGeom prst="roundRect">
            <a:avLst/>
          </a:prstGeom>
          <a:solidFill>
            <a:srgbClr val="11244D"/>
          </a:solidFill>
          <a:ln>
            <a:solidFill>
              <a:srgbClr val="F7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14600"/>
            <a:ext cx="1143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7556F"/>
                </a:solidFill>
                <a:latin typeface="Arial"/>
              </a:defRPr>
            </a:pPr>
            <a:r>
              <a:t>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2587752"/>
            <a:ext cx="23774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A8B2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331720"/>
            <a:ext cx="1143000" cy="1051560"/>
          </a:xfrm>
          <a:prstGeom prst="roundRect">
            <a:avLst/>
          </a:prstGeom>
          <a:solidFill>
            <a:srgbClr val="11244D"/>
          </a:solidFill>
          <a:ln>
            <a:solidFill>
              <a:srgbClr val="4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514600"/>
            <a:ext cx="1143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389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587752"/>
            <a:ext cx="23774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A8B2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331720"/>
            <a:ext cx="1143000" cy="1051560"/>
          </a:xfrm>
          <a:prstGeom prst="roundRect">
            <a:avLst/>
          </a:prstGeom>
          <a:solidFill>
            <a:srgbClr val="11244D"/>
          </a:solidFill>
          <a:ln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514600"/>
            <a:ext cx="1143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CFC4"/>
                </a:solidFill>
                <a:latin typeface="Arial"/>
              </a:defRPr>
            </a:pPr>
            <a:r>
              <a:t>Modify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2587752"/>
            <a:ext cx="23774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A8B2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31720"/>
            <a:ext cx="1143000" cy="1051560"/>
          </a:xfrm>
          <a:prstGeom prst="roundRect">
            <a:avLst/>
          </a:prstGeom>
          <a:solidFill>
            <a:srgbClr val="11244D"/>
          </a:solidFill>
          <a:ln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514600"/>
            <a:ext cx="1143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B124"/>
                </a:solidFill>
                <a:latin typeface="Arial"/>
              </a:defRPr>
            </a:pPr>
            <a:r>
              <a:t>Comment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8128" y="2587752"/>
            <a:ext cx="23774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A8B2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2331720"/>
            <a:ext cx="1143000" cy="1051560"/>
          </a:xfrm>
          <a:prstGeom prst="roundRect">
            <a:avLst/>
          </a:prstGeom>
          <a:solidFill>
            <a:srgbClr val="11244D"/>
          </a:solidFill>
          <a:ln>
            <a:solidFill>
              <a:srgbClr val="F7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2514600"/>
            <a:ext cx="1143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7556F"/>
                </a:solidFill>
                <a:latin typeface="Arial"/>
              </a:defRPr>
            </a:pPr>
            <a:r>
              <a:t>Save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251960"/>
            <a:ext cx="9601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2000" b="1">
                <a:solidFill>
                  <a:srgbClr val="F5F7FA"/>
                </a:solidFill>
                <a:latin typeface="Arial"/>
              </a:defRPr>
            </a:pPr>
            <a:r>
              <a:t>לא רק “להריץ”. קודם קוראים וחוזים, אחר כך בודקים.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Tool Note – Thonny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300" b="0">
                <a:solidFill>
                  <a:srgbClr val="A8B2C8"/>
                </a:solidFill>
                <a:latin typeface="Arial"/>
              </a:defRPr>
            </a:pPr>
            <a:r>
              <a:t>רק החלק הזה תלוי בכלי שבו נבחר.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37560" cy="182880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59936" y="2075688"/>
            <a:ext cx="32004" cy="1609344"/>
          </a:xfrm>
          <a:prstGeom prst="rect">
            <a:avLst/>
          </a:prstGeom>
          <a:solidFill>
            <a:srgbClr val="43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75688"/>
            <a:ext cx="3017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4389FF"/>
                </a:solidFill>
                <a:latin typeface="Arial"/>
              </a:defRPr>
            </a:pPr>
            <a: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96312"/>
            <a:ext cx="3017520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File → Open</a:t>
            </a:r>
            <a:br/>
            <a:r>
              <a:t>פתיחת קובץ קיים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65960"/>
            <a:ext cx="3337560" cy="182880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08392" y="2075688"/>
            <a:ext cx="32004" cy="1609344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75688"/>
            <a:ext cx="3017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23CFC4"/>
                </a:solidFill>
                <a:latin typeface="Arial"/>
              </a:defRPr>
            </a:pPr>
            <a:r>
              <a:t>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96312"/>
            <a:ext cx="3017520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Run → Run current script</a:t>
            </a:r>
            <a:br/>
            <a:r>
              <a:t>הרצת הקובץ הנוכחי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965960"/>
            <a:ext cx="3337560" cy="182880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56848" y="2075688"/>
            <a:ext cx="32004" cy="1609344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2075688"/>
            <a:ext cx="3017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FFB124"/>
                </a:solidFill>
                <a:latin typeface="Arial"/>
              </a:defRPr>
            </a:pPr>
            <a:r>
              <a:t>Save 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496312"/>
            <a:ext cx="3017520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File → Save As</a:t>
            </a:r>
            <a:br/>
            <a:r>
              <a:t>שמירה בשם חדש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10149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1600" b="0">
                <a:solidFill>
                  <a:srgbClr val="A8B2C8"/>
                </a:solidFill>
                <a:latin typeface="Arial"/>
              </a:defRPr>
            </a:pPr>
            <a:r>
              <a:t>אחרי : ולחיצה על Enter, Thonny בדרך כלל מזיח את השורה הבאה אוטומטית.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המעבדה: קובץ אחד שמתפתח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14600" cy="13258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45536" y="1938528"/>
            <a:ext cx="32004" cy="1106424"/>
          </a:xfrm>
          <a:prstGeom prst="rect">
            <a:avLst/>
          </a:prstGeom>
          <a:solidFill>
            <a:srgbClr val="43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4389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21945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פתחו את הקובץ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828800"/>
            <a:ext cx="2514600" cy="13258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61888" y="1938528"/>
            <a:ext cx="32004" cy="1106424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193852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23CFC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2359152"/>
            <a:ext cx="21945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קראו → חזו → הריצו → בדקו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828800"/>
            <a:ext cx="2514600" cy="13258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1938528"/>
            <a:ext cx="32004" cy="1106424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93852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FFB12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359152"/>
            <a:ext cx="21945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שנו את התוכנית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1828800"/>
            <a:ext cx="2514600" cy="13258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94592" y="1938528"/>
            <a:ext cx="32004" cy="1106424"/>
          </a:xfrm>
          <a:prstGeom prst="rect">
            <a:avLst/>
          </a:prstGeom>
          <a:solidFill>
            <a:srgbClr val="F75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193852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F7556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359152"/>
            <a:ext cx="21945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שנו את סדר הפלט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57600"/>
            <a:ext cx="2514600" cy="13258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45536" y="3767328"/>
            <a:ext cx="32004" cy="1106424"/>
          </a:xfrm>
          <a:prstGeom prst="rect">
            <a:avLst/>
          </a:prstGeom>
          <a:solidFill>
            <a:srgbClr val="43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76732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4389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187952"/>
            <a:ext cx="21945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הוסיפו הערות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2152" y="3657600"/>
            <a:ext cx="2514600" cy="13258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1888" y="3767328"/>
            <a:ext cx="32004" cy="1106424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66744" y="376732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23CFC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66744" y="4187952"/>
            <a:ext cx="21945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השלימו את הפונקציה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8504" y="3657600"/>
            <a:ext cx="2514600" cy="13258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8240" y="3767328"/>
            <a:ext cx="32004" cy="1106424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376732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FFB124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187952"/>
            <a:ext cx="21945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חזו את הפלט הסופי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34856" y="3657600"/>
            <a:ext cx="2514600" cy="132588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94592" y="3767328"/>
            <a:ext cx="32004" cy="1106424"/>
          </a:xfrm>
          <a:prstGeom prst="rect">
            <a:avLst/>
          </a:prstGeom>
          <a:solidFill>
            <a:srgbClr val="F75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376732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F7556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4187952"/>
            <a:ext cx="21945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שמרו בשם חדש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Final Predict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F75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300" b="0">
                <a:solidFill>
                  <a:srgbClr val="A8B2C8"/>
                </a:solidFill>
                <a:latin typeface="Arial"/>
              </a:defRPr>
            </a:pPr>
            <a:r>
              <a:t>כתבו את הפלט המדויק לפני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1325880"/>
            <a:ext cx="8229600" cy="443484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/>
          <a:lstStyle/>
          <a:p>
            <a:pPr algn="l">
              <a:defRPr sz="1700">
                <a:solidFill>
                  <a:srgbClr val="F5F7FA"/>
                </a:solidFill>
                <a:latin typeface="Consolas"/>
              </a:defRPr>
            </a:pPr>
            <a:r>
              <a:t># My first Python program</a:t>
            </a:r>
            <a:br/>
            <a:br/>
            <a:r>
              <a:t>print("Start")</a:t>
            </a:r>
            <a:br/>
            <a:br/>
            <a:r>
              <a:t>def introduce_me():</a:t>
            </a:r>
            <a:br/>
            <a:r>
              <a:t>    print("My name is ...")</a:t>
            </a:r>
            <a:br/>
            <a:r>
              <a:t>    print("I like ...")</a:t>
            </a:r>
            <a:br/>
            <a:br/>
            <a:r>
              <a:t>print("Ready")</a:t>
            </a:r>
            <a:br/>
            <a:r>
              <a:t>introduce_me()</a:t>
            </a:r>
            <a:br/>
            <a:r>
              <a:t>print("End")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3000" b="1">
                <a:solidFill>
                  <a:srgbClr val="F5F7FA"/>
                </a:solidFill>
                <a:latin typeface="Arial"/>
              </a:defRPr>
            </a:pPr>
            <a:r>
              <a:t>מסיימים נכון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1078992"/>
            <a:ext cx="868680" cy="50292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" y="1874519"/>
            <a:ext cx="4754880" cy="160020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0136" y="1984248"/>
            <a:ext cx="32004" cy="1380744"/>
          </a:xfrm>
          <a:prstGeom prst="rect">
            <a:avLst/>
          </a:prstGeom>
          <a:solidFill>
            <a:srgbClr val="FFB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984248"/>
            <a:ext cx="4434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FFB124"/>
                </a:solidFill>
                <a:latin typeface="Arial"/>
              </a:defRPr>
            </a:pPr>
            <a:r>
              <a:t>Save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404872"/>
            <a:ext cx="443484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G7_U1_FirstProgram_&lt;Name&gt;.py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4754880" cy="1600200"/>
          </a:xfrm>
          <a:prstGeom prst="roundRect">
            <a:avLst/>
          </a:prstGeom>
          <a:solidFill>
            <a:srgbClr val="11244D"/>
          </a:solidFill>
          <a:ln>
            <a:solidFill>
              <a:srgbClr val="2A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46536" y="1984248"/>
            <a:ext cx="32004" cy="1380744"/>
          </a:xfrm>
          <a:prstGeom prst="rect">
            <a:avLst/>
          </a:prstGeom>
          <a:solidFill>
            <a:srgbClr val="23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984248"/>
            <a:ext cx="4434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>
              <a:defRPr sz="1800" b="1">
                <a:solidFill>
                  <a:srgbClr val="23CFC4"/>
                </a:solidFill>
                <a:latin typeface="Arial"/>
              </a:defRPr>
            </a:pPr>
            <a:r>
              <a:t>אני מסוגל/ת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404872"/>
            <a:ext cx="443484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 rtl="1">
              <a:defRPr sz="1400" b="0">
                <a:solidFill>
                  <a:srgbClr val="F5F7FA"/>
                </a:solidFill>
                <a:latin typeface="Arial"/>
              </a:defRPr>
            </a:pPr>
            <a:r>
              <a:t>לקרוא קוד, לחזות מה יקרה, להריץ, לבדוק, לשנות, לתעד ולשמור.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287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rtl="1">
              <a:defRPr sz="2100" b="1">
                <a:solidFill>
                  <a:srgbClr val="F5F7FA"/>
                </a:solidFill>
                <a:latin typeface="Arial"/>
              </a:defRPr>
            </a:pPr>
            <a:r>
              <a:t>המטרה היום הייתה להתחיל לעבוד עם קוד Python בצורה נכונה.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87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A8B2C8"/>
                </a:solidFill>
                <a:latin typeface="Arial"/>
              </a:defRPr>
            </a:pPr>
            <a:r>
              <a:t>Open → Read → Predict → Run → Check → Modify → Comment →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0">
                <a:solidFill>
                  <a:srgbClr val="556382"/>
                </a:solidFill>
                <a:latin typeface="Arial"/>
              </a:defRPr>
            </a:pPr>
            <a:r>
              <a:t>G7 · Unit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56382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