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3000" b="1">
                <a:solidFill>
                  <a:srgbClr val="23CFC4"/>
                </a:solidFill>
                <a:latin typeface="Arial"/>
              </a:rPr>
              <a:t>יחידה 2 · Geometry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600" b="0">
                <a:solidFill>
                  <a:srgbClr val="F8FAFF"/>
                </a:solidFill>
                <a:latin typeface="Arial"/>
              </a:rPr>
              <a:t>Python A · כיתה ז׳ · מפגש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2200" b="1">
                <a:solidFill>
                  <a:srgbClr val="F8FAFF"/>
                </a:solidFill>
                <a:latin typeface="Arial"/>
              </a:rPr>
              <a:t>קראו → חזו → בדקו → תקנו → בנו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69848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1600" b="1">
                <a:solidFill>
                  <a:srgbClr val="FFB124"/>
                </a:solidFill>
                <a:latin typeface="Arial"/>
              </a:rPr>
              <a:t>Read → Predict → Debug →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5156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600" b="0">
                <a:solidFill>
                  <a:srgbClr val="9EABC5"/>
                </a:solidFill>
                <a:latin typeface="Arial"/>
              </a:rPr>
              <a:t>היום לא לומדים פקודות חדשות. היום גורמים למה שכבר למדנו לעבוד יחד.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464808"/>
            <a:ext cx="128016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rtl="0"/>
            <a:r>
              <a:rPr sz="700" b="0">
                <a:solidFill>
                  <a:srgbClr val="60708D"/>
                </a:solidFill>
                <a:latin typeface="Arial"/>
              </a:rPr>
              <a:t>G7 · U2 · M3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0"/>
            <a:r>
              <a:rPr sz="700" b="0">
                <a:solidFill>
                  <a:srgbClr val="60708D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/>
            <a:r>
              <a:rPr sz="2400" b="1">
                <a:solidFill>
                  <a:srgbClr val="F8FAFF"/>
                </a:solidFill>
                <a:latin typeface="Arial"/>
              </a:rPr>
              <a:t>מה אנחנו צריכים להוכיח היום?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61320" y="841248"/>
            <a:ext cx="548640" cy="0"/>
          </a:xfrm>
          <a:prstGeom prst="line">
            <a:avLst/>
          </a:prstGeom>
          <a:ln w="27940">
            <a:solidFill>
              <a:srgbClr val="23C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02920" y="1508760"/>
            <a:ext cx="2468880" cy="1965960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23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755648"/>
            <a:ext cx="22860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1800" b="1">
                <a:solidFill>
                  <a:srgbClr val="23CFC4"/>
                </a:solidFill>
                <a:latin typeface="Arial"/>
              </a:rPr>
              <a:t>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331720"/>
            <a:ext cx="21488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600" b="0">
                <a:solidFill>
                  <a:srgbClr val="F8FAFF"/>
                </a:solidFill>
                <a:latin typeface="Arial"/>
              </a:rPr>
              <a:t>לקרוא רצף קצר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508760"/>
            <a:ext cx="2468880" cy="1965960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FFB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755648"/>
            <a:ext cx="22860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1800" b="1">
                <a:solidFill>
                  <a:srgbClr val="FFB124"/>
                </a:solidFill>
                <a:latin typeface="Arial"/>
              </a:rPr>
              <a:t>Predict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2331720"/>
            <a:ext cx="21488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600" b="0">
                <a:solidFill>
                  <a:srgbClr val="F8FAFF"/>
                </a:solidFill>
                <a:latin typeface="Arial"/>
              </a:rPr>
              <a:t>לחזות מסלול וכיוון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2468880" cy="1965960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FF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1755648"/>
            <a:ext cx="22860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1800" b="1">
                <a:solidFill>
                  <a:srgbClr val="FF4C7D"/>
                </a:solidFill>
                <a:latin typeface="Arial"/>
              </a:rPr>
              <a:t>Debug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2331720"/>
            <a:ext cx="21488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600" b="0">
                <a:solidFill>
                  <a:srgbClr val="F8FAFF"/>
                </a:solidFill>
                <a:latin typeface="Arial"/>
              </a:rPr>
              <a:t>למצוא שגיאה לוגית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508760"/>
            <a:ext cx="2468880" cy="1965960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43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755648"/>
            <a:ext cx="22860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1800" b="1">
                <a:solidFill>
                  <a:srgbClr val="4389FF"/>
                </a:solidFill>
                <a:latin typeface="Arial"/>
              </a:rPr>
              <a:t>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8592" y="2331720"/>
            <a:ext cx="21488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600" b="0">
                <a:solidFill>
                  <a:srgbClr val="F8FAFF"/>
                </a:solidFill>
                <a:latin typeface="Arial"/>
              </a:rPr>
              <a:t>לבנות צורה ממפרט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51960"/>
            <a:ext cx="106984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900" b="1">
                <a:solidFill>
                  <a:srgbClr val="F8FAFF"/>
                </a:solidFill>
                <a:latin typeface="Arial"/>
              </a:rPr>
              <a:t>המטרה אינה לזכור API. המטרה היא לשלוט ברצף ההוראות ובגאומטריה שהוא יוצר.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464808"/>
            <a:ext cx="128016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rtl="0"/>
            <a:r>
              <a:rPr sz="700" b="0">
                <a:solidFill>
                  <a:srgbClr val="60708D"/>
                </a:solidFill>
                <a:latin typeface="Arial"/>
              </a:rPr>
              <a:t>G7 · U2 · M3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0"/>
            <a:r>
              <a:rPr sz="700" b="0">
                <a:solidFill>
                  <a:srgbClr val="60708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/>
            <a:r>
              <a:rPr sz="2400" b="1">
                <a:solidFill>
                  <a:srgbClr val="F8FAFF"/>
                </a:solidFill>
                <a:latin typeface="Arial"/>
              </a:rPr>
              <a:t>Starter — אל תריצו עדיין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61320" y="841248"/>
            <a:ext cx="548640" cy="0"/>
          </a:xfrm>
          <a:prstGeom prst="line">
            <a:avLst/>
          </a:prstGeom>
          <a:ln w="27940">
            <a:solidFill>
              <a:srgbClr val="FFB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685800" y="1325880"/>
            <a:ext cx="4663440" cy="2331720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112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417320"/>
            <a:ext cx="4334255" cy="214883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rtl="0"/>
            <a:r>
              <a:rPr sz="1700" b="0">
                <a:solidFill>
                  <a:srgbClr val="F8FAFF"/>
                </a:solidFill>
                <a:latin typeface="Courier New"/>
              </a:rPr>
              <a:t>turtle.forward(80)</a:t>
            </a:r>
            <a:br/>
            <a:r>
              <a:rPr sz="1700" b="0">
                <a:solidFill>
                  <a:srgbClr val="F8FAFF"/>
                </a:solidFill>
                <a:latin typeface="Courier New"/>
              </a:rPr>
              <a:t>turtle.right(90)</a:t>
            </a:r>
            <a:br/>
            <a:r>
              <a:rPr sz="1700" b="0">
                <a:solidFill>
                  <a:srgbClr val="F8FAFF"/>
                </a:solidFill>
                <a:latin typeface="Courier New"/>
              </a:rPr>
              <a:t>turtle.forward(40)</a:t>
            </a:r>
            <a:br/>
            <a:r>
              <a:rPr sz="1700" b="0">
                <a:solidFill>
                  <a:srgbClr val="F8FAFF"/>
                </a:solidFill>
                <a:latin typeface="Courier New"/>
              </a:rPr>
              <a:t>turtle.left(90)</a:t>
            </a:r>
            <a:br/>
            <a:r>
              <a:rPr sz="1700" b="0">
                <a:solidFill>
                  <a:srgbClr val="F8FAFF"/>
                </a:solidFill>
                <a:latin typeface="Courier New"/>
              </a:rPr>
              <a:t>turtle.forward(60)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417320"/>
            <a:ext cx="50292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2000" b="1">
                <a:solidFill>
                  <a:srgbClr val="F8FAFF"/>
                </a:solidFill>
                <a:latin typeface="Arial"/>
              </a:rPr>
              <a:t>ציירו את המסלול.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057400"/>
            <a:ext cx="50292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2000" b="1">
                <a:solidFill>
                  <a:srgbClr val="23CFC4"/>
                </a:solidFill>
                <a:latin typeface="Arial"/>
              </a:rPr>
              <a:t>סמנו גם את כיוון הצב בסוף.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880360"/>
            <a:ext cx="50292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2000" b="1">
                <a:solidFill>
                  <a:srgbClr val="FF4C7D"/>
                </a:solidFill>
                <a:latin typeface="Arial"/>
              </a:rPr>
              <a:t>רק אז Run →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92040"/>
            <a:ext cx="1069848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600" b="0">
                <a:solidFill>
                  <a:srgbClr val="9EABC5"/>
                </a:solidFill>
                <a:latin typeface="Arial"/>
              </a:rPr>
              <a:t>הוראה חדשה מתחילה מהמצב שהשאירה ההוראה הקודמת.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64808"/>
            <a:ext cx="128016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rtl="0"/>
            <a:r>
              <a:rPr sz="700" b="0">
                <a:solidFill>
                  <a:srgbClr val="60708D"/>
                </a:solidFill>
                <a:latin typeface="Arial"/>
              </a:rPr>
              <a:t>G7 · U2 · M3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0"/>
            <a:r>
              <a:rPr sz="700" b="0">
                <a:solidFill>
                  <a:srgbClr val="60708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/>
            <a:r>
              <a:rPr sz="2400" b="1">
                <a:solidFill>
                  <a:srgbClr val="F8FAFF"/>
                </a:solidFill>
                <a:latin typeface="Arial"/>
              </a:rPr>
              <a:t>Trace: לא רק קווים — גם מצב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61320" y="841248"/>
            <a:ext cx="548640" cy="0"/>
          </a:xfrm>
          <a:prstGeom prst="line">
            <a:avLst/>
          </a:prstGeom>
          <a:ln w="27940">
            <a:solidFill>
              <a:srgbClr val="43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2000" b="1">
                <a:solidFill>
                  <a:srgbClr val="F8FAFF"/>
                </a:solidFill>
                <a:latin typeface="Arial"/>
              </a:rPr>
              <a:t>אחרי כל הוראה שאלו: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246120" cy="1508760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23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2971800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800" b="1">
                <a:solidFill>
                  <a:srgbClr val="23CFC4"/>
                </a:solidFill>
                <a:latin typeface="Arial"/>
              </a:rPr>
              <a:t>איפה הצב?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874519"/>
            <a:ext cx="3246120" cy="1508760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FFB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240280"/>
            <a:ext cx="2971800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800" b="1">
                <a:solidFill>
                  <a:srgbClr val="FFB124"/>
                </a:solidFill>
                <a:latin typeface="Arial"/>
              </a:rPr>
              <a:t>לאיזה כיוון הוא פונה?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874519"/>
            <a:ext cx="3246120" cy="1508760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FF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2240280"/>
            <a:ext cx="2971800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800" b="1">
                <a:solidFill>
                  <a:srgbClr val="FF4C7D"/>
                </a:solidFill>
                <a:latin typeface="Arial"/>
              </a:rPr>
              <a:t>האם ההוראה זזה או רק פנתה?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43400"/>
            <a:ext cx="106984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2100" b="1">
                <a:solidFill>
                  <a:srgbClr val="F8FAFF"/>
                </a:solidFill>
                <a:latin typeface="Arial"/>
              </a:rPr>
              <a:t>אם נוסיף עכשיו turtle.forward(30) — לאן ימשיך הקו?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64808"/>
            <a:ext cx="128016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rtl="0"/>
            <a:r>
              <a:rPr sz="700" b="0">
                <a:solidFill>
                  <a:srgbClr val="60708D"/>
                </a:solidFill>
                <a:latin typeface="Arial"/>
              </a:rPr>
              <a:t>G7 · U2 · M3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0"/>
            <a:r>
              <a:rPr sz="700" b="0">
                <a:solidFill>
                  <a:srgbClr val="60708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/>
            <a:r>
              <a:rPr sz="2400" b="1">
                <a:solidFill>
                  <a:srgbClr val="F8FAFF"/>
                </a:solidFill>
                <a:latin typeface="Arial"/>
              </a:rPr>
              <a:t>Logic Error: הקוד רץ — אבל הציור לא נכון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61320" y="841248"/>
            <a:ext cx="548640" cy="0"/>
          </a:xfrm>
          <a:prstGeom prst="line">
            <a:avLst/>
          </a:prstGeom>
          <a:ln w="27940">
            <a:solidFill>
              <a:srgbClr val="FF4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34440"/>
            <a:ext cx="106984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1900" b="1">
                <a:solidFill>
                  <a:srgbClr val="FFB124"/>
                </a:solidFill>
                <a:latin typeface="Arial"/>
              </a:rPr>
              <a:t>Syntax תקין ≠ Geometry נכונה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4937760" cy="3520440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112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920240"/>
            <a:ext cx="4608576" cy="3337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rtl="0"/>
            <a:r>
              <a:rPr sz="1400" b="0">
                <a:solidFill>
                  <a:srgbClr val="F8FAFF"/>
                </a:solidFill>
                <a:latin typeface="Courier New"/>
              </a:rPr>
              <a:t>turtle.forward(80)</a:t>
            </a:r>
            <a:br/>
            <a:r>
              <a:rPr sz="1400" b="0">
                <a:solidFill>
                  <a:srgbClr val="F8FAFF"/>
                </a:solidFill>
                <a:latin typeface="Courier New"/>
              </a:rPr>
              <a:t>turtle.right(90)</a:t>
            </a:r>
            <a:br/>
            <a:r>
              <a:rPr sz="1400" b="0">
                <a:solidFill>
                  <a:srgbClr val="F8FAFF"/>
                </a:solidFill>
                <a:latin typeface="Courier New"/>
              </a:rPr>
              <a:t>turtle.forward(80)</a:t>
            </a:r>
            <a:br/>
            <a:r>
              <a:rPr sz="1400" b="0">
                <a:solidFill>
                  <a:srgbClr val="F8FAFF"/>
                </a:solidFill>
                <a:latin typeface="Courier New"/>
              </a:rPr>
              <a:t>turtle.right(90)</a:t>
            </a:r>
            <a:br/>
            <a:r>
              <a:rPr sz="1400" b="0">
                <a:solidFill>
                  <a:srgbClr val="F8FAFF"/>
                </a:solidFill>
                <a:latin typeface="Courier New"/>
              </a:rPr>
              <a:t>turtle.forward(80)</a:t>
            </a:r>
            <a:br/>
            <a:r>
              <a:rPr sz="1400" b="0">
                <a:solidFill>
                  <a:srgbClr val="F8FAFF"/>
                </a:solidFill>
                <a:latin typeface="Courier New"/>
              </a:rPr>
              <a:t>turtle.left(90)</a:t>
            </a:r>
            <a:br/>
            <a:r>
              <a:rPr sz="1400" b="0">
                <a:solidFill>
                  <a:srgbClr val="F8FAFF"/>
                </a:solidFill>
                <a:latin typeface="Courier New"/>
              </a:rPr>
              <a:t>turtle.forward(80)</a:t>
            </a:r>
            <a:br/>
            <a:r>
              <a:rPr sz="1400" b="0">
                <a:solidFill>
                  <a:srgbClr val="F8FAFF"/>
                </a:solidFill>
                <a:latin typeface="Courier New"/>
              </a:rPr>
              <a:t>turtle.right(90)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2057400"/>
            <a:ext cx="45720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2000" b="1">
                <a:solidFill>
                  <a:srgbClr val="F8FAFF"/>
                </a:solidFill>
                <a:latin typeface="Arial"/>
              </a:rPr>
              <a:t>המטרה: ריבוע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2743200"/>
            <a:ext cx="457200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800" b="1">
                <a:solidFill>
                  <a:srgbClr val="FF4C7D"/>
                </a:solidFill>
                <a:latin typeface="Arial"/>
              </a:rPr>
              <a:t>לפני Run: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154680"/>
            <a:ext cx="4206240" cy="1463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/>
            <a:r>
              <a:rPr sz="1700" b="0">
                <a:solidFill>
                  <a:srgbClr val="9EABC5"/>
                </a:solidFill>
                <a:latin typeface="Arial"/>
              </a:rPr>
              <a:t>1. ציירו מה באמת יקרה</a:t>
            </a:r>
            <a:br/>
            <a:r>
              <a:rPr sz="1700" b="0">
                <a:solidFill>
                  <a:srgbClr val="9EABC5"/>
                </a:solidFill>
                <a:latin typeface="Arial"/>
              </a:rPr>
              <a:t>2. מצאו את ההוראה הראשונה שמפרה את הריבוע</a:t>
            </a:r>
            <a:br/>
            <a:r>
              <a:rPr sz="1700" b="0">
                <a:solidFill>
                  <a:srgbClr val="9EABC5"/>
                </a:solidFill>
                <a:latin typeface="Arial"/>
              </a:rPr>
              <a:t>3. הציעו תיקון של שורה אחת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64808"/>
            <a:ext cx="128016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rtl="0"/>
            <a:r>
              <a:rPr sz="700" b="0">
                <a:solidFill>
                  <a:srgbClr val="60708D"/>
                </a:solidFill>
                <a:latin typeface="Arial"/>
              </a:rPr>
              <a:t>G7 · U2 · M3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0"/>
            <a:r>
              <a:rPr sz="700" b="0">
                <a:solidFill>
                  <a:srgbClr val="60708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0"/>
            <a:r>
              <a:rPr sz="2400" b="1">
                <a:solidFill>
                  <a:srgbClr val="F8FAFF"/>
                </a:solidFill>
                <a:latin typeface="Arial"/>
              </a:rPr>
              <a:t>Find → Fix → Test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61320" y="841248"/>
            <a:ext cx="548640" cy="0"/>
          </a:xfrm>
          <a:prstGeom prst="line">
            <a:avLst/>
          </a:prstGeom>
          <a:ln w="27940">
            <a:solidFill>
              <a:srgbClr val="23C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822960" y="1371600"/>
            <a:ext cx="4663440" cy="2103120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112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463040"/>
            <a:ext cx="4334255" cy="192023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rtl="0"/>
            <a:r>
              <a:rPr sz="1700" b="0">
                <a:solidFill>
                  <a:srgbClr val="F8FAFF"/>
                </a:solidFill>
                <a:latin typeface="Courier New"/>
              </a:rPr>
              <a:t>...</a:t>
            </a:r>
            <a:br/>
            <a:r>
              <a:rPr sz="1700" b="0">
                <a:solidFill>
                  <a:srgbClr val="F8FAFF"/>
                </a:solidFill>
                <a:latin typeface="Courier New"/>
              </a:rPr>
              <a:t>turtle.forward(80)</a:t>
            </a:r>
            <a:br/>
            <a:r>
              <a:rPr sz="1700" b="0">
                <a:solidFill>
                  <a:srgbClr val="F8FAFF"/>
                </a:solidFill>
                <a:latin typeface="Courier New"/>
              </a:rPr>
              <a:t>turtle.left(90)   # wrong</a:t>
            </a:r>
            <a:br/>
            <a:r>
              <a:rPr sz="1700" b="0">
                <a:solidFill>
                  <a:srgbClr val="F8FAFF"/>
                </a:solidFill>
                <a:latin typeface="Courier New"/>
              </a:rPr>
              <a:t>turtle.forward(80)</a:t>
            </a:r>
            <a:br/>
            <a:r>
              <a:rPr sz="1700" b="0">
                <a:solidFill>
                  <a:srgbClr val="F8FAFF"/>
                </a:solidFill>
                <a:latin typeface="Courier New"/>
              </a:rPr>
              <a:t>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508760"/>
            <a:ext cx="4663440" cy="10972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2000" b="1">
                <a:solidFill>
                  <a:srgbClr val="F8FAFF"/>
                </a:solidFill>
                <a:latin typeface="Arial"/>
              </a:rPr>
              <a:t>הבעיה אינה ב-forward().</a:t>
            </a:r>
            <a:br/>
            <a:r>
              <a:rPr sz="2000" b="1">
                <a:solidFill>
                  <a:srgbClr val="F8FAFF"/>
                </a:solidFill>
                <a:latin typeface="Arial"/>
              </a:rPr>
              <a:t>המרחק נכון. הפנייה שגויה.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3063240"/>
            <a:ext cx="3383280" cy="822960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112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31152" y="3154680"/>
            <a:ext cx="3054096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rtl="0"/>
            <a:r>
              <a:rPr sz="1800" b="0">
                <a:solidFill>
                  <a:srgbClr val="F8FAFF"/>
                </a:solidFill>
                <a:latin typeface="Courier New"/>
              </a:rPr>
              <a:t>turtle.right(90)   # fix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92040"/>
            <a:ext cx="1069848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800" b="1">
                <a:solidFill>
                  <a:srgbClr val="FFB124"/>
                </a:solidFill>
                <a:latin typeface="Arial"/>
              </a:rPr>
              <a:t>משנים את ההוראה האחראית למismatch — לא מנחשים.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64808"/>
            <a:ext cx="128016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rtl="0"/>
            <a:r>
              <a:rPr sz="700" b="0">
                <a:solidFill>
                  <a:srgbClr val="60708D"/>
                </a:solidFill>
                <a:latin typeface="Arial"/>
              </a:rPr>
              <a:t>G7 · U2 · M3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0"/>
            <a:r>
              <a:rPr sz="700" b="0">
                <a:solidFill>
                  <a:srgbClr val="60708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/>
            <a:r>
              <a:rPr sz="2400" b="1">
                <a:solidFill>
                  <a:srgbClr val="F8FAFF"/>
                </a:solidFill>
                <a:latin typeface="Arial"/>
              </a:rPr>
              <a:t>Modify: מריבוע למלבן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61320" y="841248"/>
            <a:ext cx="548640" cy="0"/>
          </a:xfrm>
          <a:prstGeom prst="line">
            <a:avLst/>
          </a:prstGeom>
          <a:ln w="27940">
            <a:solidFill>
              <a:srgbClr val="43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34440"/>
            <a:ext cx="438912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800" b="1">
                <a:solidFill>
                  <a:srgbClr val="9EABC5"/>
                </a:solidFill>
                <a:latin typeface="Arial"/>
              </a:rPr>
              <a:t>ריבוע 80 × 80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874519"/>
            <a:ext cx="2011680" cy="2011680"/>
          </a:xfrm>
          <a:prstGeom prst="rect">
            <a:avLst/>
          </a:prstGeom>
          <a:solidFill>
            <a:srgbClr val="0A1737"/>
          </a:solidFill>
          <a:ln w="12700">
            <a:solidFill>
              <a:srgbClr val="23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49240" y="2423160"/>
            <a:ext cx="73152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2800" b="1">
                <a:solidFill>
                  <a:srgbClr val="FFB124"/>
                </a:solidFill>
                <a:latin typeface="Arial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234440"/>
            <a:ext cx="45720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800" b="1">
                <a:solidFill>
                  <a:srgbClr val="F8FAFF"/>
                </a:solidFill>
                <a:latin typeface="Arial"/>
              </a:rPr>
              <a:t>מלבן 120 × 60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2057400"/>
            <a:ext cx="3017520" cy="1508760"/>
          </a:xfrm>
          <a:prstGeom prst="rect">
            <a:avLst/>
          </a:prstGeom>
          <a:solidFill>
            <a:srgbClr val="0A1737"/>
          </a:solidFill>
          <a:ln w="12700">
            <a:solidFill>
              <a:srgbClr val="43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4160520"/>
            <a:ext cx="49377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1800" b="1">
                <a:solidFill>
                  <a:srgbClr val="FFB124"/>
                </a:solidFill>
                <a:latin typeface="Arial"/>
              </a:rPr>
              <a:t>120 → 60 → 120 →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800" b="1">
                <a:solidFill>
                  <a:srgbClr val="F8FAFF"/>
                </a:solidFill>
                <a:latin typeface="Arial"/>
              </a:rPr>
              <a:t>מה נשאר 90°?  הפניות.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64808"/>
            <a:ext cx="128016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rtl="0"/>
            <a:r>
              <a:rPr sz="700" b="0">
                <a:solidFill>
                  <a:srgbClr val="60708D"/>
                </a:solidFill>
                <a:latin typeface="Arial"/>
              </a:rPr>
              <a:t>G7 · U2 · M3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0"/>
            <a:r>
              <a:rPr sz="700" b="0">
                <a:solidFill>
                  <a:srgbClr val="60708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/>
            <a:r>
              <a:rPr sz="2400" b="1">
                <a:solidFill>
                  <a:srgbClr val="F8FAFF"/>
                </a:solidFill>
                <a:latin typeface="Arial"/>
              </a:rPr>
              <a:t>Distance משנה אורך. Angle משנה כיוון.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61320" y="841248"/>
            <a:ext cx="548640" cy="0"/>
          </a:xfrm>
          <a:prstGeom prst="line">
            <a:avLst/>
          </a:prstGeom>
          <a:ln w="27940">
            <a:solidFill>
              <a:srgbClr val="23C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822960" y="1463040"/>
            <a:ext cx="4892040" cy="2057400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23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43434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1800" b="1">
                <a:solidFill>
                  <a:srgbClr val="23CFC4"/>
                </a:solidFill>
                <a:latin typeface="Courier New"/>
              </a:rPr>
              <a:t>forward(120)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41605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2000" b="1">
                <a:solidFill>
                  <a:srgbClr val="F8FAFF"/>
                </a:solidFill>
                <a:latin typeface="Arial"/>
              </a:rPr>
              <a:t>אורך הצלע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463040"/>
            <a:ext cx="4892040" cy="2057400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FFB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783080"/>
            <a:ext cx="434340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1800" b="1">
                <a:solidFill>
                  <a:srgbClr val="FFB124"/>
                </a:solidFill>
                <a:latin typeface="Courier New"/>
              </a:rPr>
              <a:t>right(90)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468880"/>
            <a:ext cx="41605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2000" b="1">
                <a:solidFill>
                  <a:srgbClr val="F8FAFF"/>
                </a:solidFill>
                <a:latin typeface="Arial"/>
              </a:rPr>
              <a:t>שינוי כיוון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43400"/>
            <a:ext cx="1069848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2000" b="1">
                <a:solidFill>
                  <a:srgbClr val="F8FAFF"/>
                </a:solidFill>
                <a:latin typeface="Arial"/>
              </a:rPr>
              <a:t>כדי להפוך ריבוע למלבן, לא צריך לשנות את הזוויות.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64808"/>
            <a:ext cx="128016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rtl="0"/>
            <a:r>
              <a:rPr sz="700" b="0">
                <a:solidFill>
                  <a:srgbClr val="60708D"/>
                </a:solidFill>
                <a:latin typeface="Arial"/>
              </a:rPr>
              <a:t>G7 · U2 · M3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0"/>
            <a:r>
              <a:rPr sz="700" b="0">
                <a:solidFill>
                  <a:srgbClr val="60708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/>
            <a:r>
              <a:rPr sz="2400" b="1">
                <a:solidFill>
                  <a:srgbClr val="F8FAFF"/>
                </a:solidFill>
                <a:latin typeface="Arial"/>
              </a:rPr>
              <a:t>לפני החצי השני: עצירה קצרה ובדיקה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61320" y="841248"/>
            <a:ext cx="548640" cy="0"/>
          </a:xfrm>
          <a:prstGeom prst="line">
            <a:avLst/>
          </a:prstGeom>
          <a:ln w="27940">
            <a:solidFill>
              <a:srgbClr val="FFB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900" b="1">
                <a:solidFill>
                  <a:srgbClr val="F8FAFF"/>
                </a:solidFill>
                <a:latin typeface="Arial"/>
              </a:rPr>
              <a:t>יש לי קובץ שעובד.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900" b="1">
                <a:solidFill>
                  <a:srgbClr val="23CFC4"/>
                </a:solidFill>
                <a:latin typeface="Arial"/>
              </a:rPr>
              <a:t>אני מצייר/ת לפני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900" b="1">
                <a:solidFill>
                  <a:srgbClr val="FF4C7D"/>
                </a:solidFill>
                <a:latin typeface="Arial"/>
              </a:rPr>
              <a:t>כשיש mismatch אני מחפש/ת את ההוראה הראשונה שגרמה לו.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700" b="0">
                <a:solidFill>
                  <a:srgbClr val="9EABC5"/>
                </a:solidFill>
                <a:latin typeface="Arial"/>
              </a:rPr>
              <a:t>5 דקות אלה הן buffer אמיתי — לא מוסיפים API.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64808"/>
            <a:ext cx="128016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rtl="0"/>
            <a:r>
              <a:rPr sz="700" b="0">
                <a:solidFill>
                  <a:srgbClr val="60708D"/>
                </a:solidFill>
                <a:latin typeface="Arial"/>
              </a:rPr>
              <a:t>G7 · U2 · M3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0"/>
            <a:r>
              <a:rPr sz="700" b="0">
                <a:solidFill>
                  <a:srgbClr val="60708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/>
            <a:r>
              <a:rPr sz="2400" b="1">
                <a:solidFill>
                  <a:srgbClr val="F8FAFF"/>
                </a:solidFill>
                <a:latin typeface="Arial"/>
              </a:rPr>
              <a:t>Integrated Path — 8 הוראות, בלי פקודה חדשה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61320" y="841248"/>
            <a:ext cx="548640" cy="0"/>
          </a:xfrm>
          <a:prstGeom prst="line">
            <a:avLst/>
          </a:prstGeom>
          <a:ln w="27940">
            <a:solidFill>
              <a:srgbClr val="23C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900" b="1">
                <a:solidFill>
                  <a:srgbClr val="F8FAFF"/>
                </a:solidFill>
                <a:latin typeface="Arial"/>
              </a:rPr>
              <a:t>בנו מה specification — לפני שאתם רואים קוד.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4892040" cy="621792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23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10512"/>
            <a:ext cx="466344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rtl="0"/>
            <a:r>
              <a:rPr sz="1500" b="0">
                <a:solidFill>
                  <a:srgbClr val="F8FAFF"/>
                </a:solidFill>
                <a:latin typeface="Arial"/>
              </a:rPr>
              <a:t>1 stamp בהתחלה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91640"/>
            <a:ext cx="4892040" cy="621792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23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4808" y="1810512"/>
            <a:ext cx="466344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rtl="0"/>
            <a:r>
              <a:rPr sz="1500" b="0">
                <a:solidFill>
                  <a:srgbClr val="F8FAFF"/>
                </a:solidFill>
                <a:latin typeface="Arial"/>
              </a:rPr>
              <a:t>2 forward 70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60320"/>
            <a:ext cx="4892040" cy="621792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FFB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9191"/>
            <a:ext cx="466344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rtl="0"/>
            <a:r>
              <a:rPr sz="1500" b="0">
                <a:solidFill>
                  <a:srgbClr val="F8FAFF"/>
                </a:solidFill>
                <a:latin typeface="Arial"/>
              </a:rPr>
              <a:t>3 right 90°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560320"/>
            <a:ext cx="4892040" cy="621792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FFB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2679191"/>
            <a:ext cx="466344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rtl="0"/>
            <a:r>
              <a:rPr sz="1500" b="0">
                <a:solidFill>
                  <a:srgbClr val="F8FAFF"/>
                </a:solidFill>
                <a:latin typeface="Arial"/>
              </a:rPr>
              <a:t>4 penup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29000"/>
            <a:ext cx="4892040" cy="621792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FF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547872"/>
            <a:ext cx="466344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rtl="0"/>
            <a:r>
              <a:rPr sz="1500" b="0">
                <a:solidFill>
                  <a:srgbClr val="F8FAFF"/>
                </a:solidFill>
                <a:latin typeface="Arial"/>
              </a:rPr>
              <a:t>5 forward 40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429000"/>
            <a:ext cx="4892040" cy="621792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FF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3547872"/>
            <a:ext cx="466344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rtl="0"/>
            <a:r>
              <a:rPr sz="1500" b="0">
                <a:solidFill>
                  <a:srgbClr val="F8FAFF"/>
                </a:solidFill>
                <a:latin typeface="Arial"/>
              </a:rPr>
              <a:t>6 pendown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97679"/>
            <a:ext cx="4892040" cy="621792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43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416551"/>
            <a:ext cx="466344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rtl="0"/>
            <a:r>
              <a:rPr sz="1500" b="0">
                <a:solidFill>
                  <a:srgbClr val="F8FAFF"/>
                </a:solidFill>
                <a:latin typeface="Arial"/>
              </a:rPr>
              <a:t>7 left 90°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297679"/>
            <a:ext cx="4892040" cy="621792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43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4416551"/>
            <a:ext cx="466344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rtl="0"/>
            <a:r>
              <a:rPr sz="1500" b="0">
                <a:solidFill>
                  <a:srgbClr val="F8FAFF"/>
                </a:solidFill>
                <a:latin typeface="Arial"/>
              </a:rPr>
              <a:t>8 forward 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49240"/>
            <a:ext cx="1069848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800" b="1">
                <a:solidFill>
                  <a:srgbClr val="FFB124"/>
                </a:solidFill>
                <a:latin typeface="Arial"/>
              </a:rPr>
              <a:t>חזו: מה יישאר נראה?  stamp + קו + פער + קו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464808"/>
            <a:ext cx="128016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rtl="0"/>
            <a:r>
              <a:rPr sz="700" b="0">
                <a:solidFill>
                  <a:srgbClr val="60708D"/>
                </a:solidFill>
                <a:latin typeface="Arial"/>
              </a:rPr>
              <a:t>G7 · U2 · M3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0"/>
            <a:r>
              <a:rPr sz="700" b="0">
                <a:solidFill>
                  <a:srgbClr val="60708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/>
            <a:r>
              <a:rPr sz="2400" b="1">
                <a:solidFill>
                  <a:srgbClr val="F8FAFF"/>
                </a:solidFill>
                <a:latin typeface="Arial"/>
              </a:rPr>
              <a:t>מה יישאר על המסך?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61320" y="841248"/>
            <a:ext cx="548640" cy="0"/>
          </a:xfrm>
          <a:prstGeom prst="line">
            <a:avLst/>
          </a:prstGeom>
          <a:ln w="27940">
            <a:solidFill>
              <a:srgbClr val="43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828800" y="2240280"/>
            <a:ext cx="228600" cy="228600"/>
          </a:xfrm>
          <a:prstGeom prst="ellipse">
            <a:avLst/>
          </a:prstGeom>
          <a:solidFill>
            <a:srgbClr val="FF4C7D"/>
          </a:solidFill>
          <a:ln>
            <a:solidFill>
              <a:srgbClr val="FF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057400" y="2354580"/>
            <a:ext cx="2651760" cy="0"/>
          </a:xfrm>
          <a:prstGeom prst="line">
            <a:avLst/>
          </a:prstGeom>
          <a:ln w="38100">
            <a:solidFill>
              <a:srgbClr val="23C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709160" y="2354580"/>
            <a:ext cx="0" cy="1074420"/>
          </a:xfrm>
          <a:prstGeom prst="line">
            <a:avLst/>
          </a:prstGeom>
          <a:ln w="25400">
            <a:solidFill>
              <a:srgbClr val="60708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709160" y="3429000"/>
            <a:ext cx="2651760" cy="0"/>
          </a:xfrm>
          <a:prstGeom prst="line">
            <a:avLst/>
          </a:prstGeom>
          <a:ln w="38100">
            <a:solidFill>
              <a:srgbClr val="23C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17320" y="2651760"/>
            <a:ext cx="109728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1400" b="1">
                <a:solidFill>
                  <a:srgbClr val="FF4C7D"/>
                </a:solidFill>
                <a:latin typeface="Arial"/>
              </a:rPr>
              <a:t>stamp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965960"/>
            <a:ext cx="128016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400" b="1">
                <a:solidFill>
                  <a:srgbClr val="23CFC4"/>
                </a:solidFill>
                <a:latin typeface="Arial"/>
              </a:rPr>
              <a:t>קו 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743200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rtl="1"/>
            <a:r>
              <a:rPr sz="1400" b="1">
                <a:solidFill>
                  <a:srgbClr val="FFB124"/>
                </a:solidFill>
                <a:latin typeface="Arial"/>
              </a:rPr>
              <a:t>תנועה 40 בלי קו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3657600"/>
            <a:ext cx="128016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400" b="1">
                <a:solidFill>
                  <a:srgbClr val="23CFC4"/>
                </a:solidFill>
                <a:latin typeface="Arial"/>
              </a:rPr>
              <a:t>קו 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069848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2000" b="1">
                <a:solidFill>
                  <a:srgbClr val="F8FAFF"/>
                </a:solidFill>
                <a:latin typeface="Arial"/>
              </a:rPr>
              <a:t>הצב עבר גם במקום שבו אין קו.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464808"/>
            <a:ext cx="128016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rtl="0"/>
            <a:r>
              <a:rPr sz="700" b="0">
                <a:solidFill>
                  <a:srgbClr val="60708D"/>
                </a:solidFill>
                <a:latin typeface="Arial"/>
              </a:rPr>
              <a:t>G7 · U2 · M3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0"/>
            <a:r>
              <a:rPr sz="700" b="0">
                <a:solidFill>
                  <a:srgbClr val="60708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/>
            <a:r>
              <a:rPr sz="2400" b="1">
                <a:solidFill>
                  <a:srgbClr val="F8FAFF"/>
                </a:solidFill>
                <a:latin typeface="Arial"/>
              </a:rPr>
              <a:t>Reset למיקרו-הערכה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61320" y="841248"/>
            <a:ext cx="548640" cy="0"/>
          </a:xfrm>
          <a:prstGeom prst="line">
            <a:avLst/>
          </a:prstGeom>
          <a:ln w="27940">
            <a:solidFill>
              <a:srgbClr val="FF4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640080" y="1143000"/>
            <a:ext cx="4846320" cy="3566160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112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234440"/>
            <a:ext cx="4517136" cy="338327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rtl="0"/>
            <a:r>
              <a:rPr sz="1500" b="0">
                <a:solidFill>
                  <a:srgbClr val="F8FAFF"/>
                </a:solidFill>
                <a:latin typeface="Courier New"/>
              </a:rPr>
              <a:t>import turtle</a:t>
            </a:r>
            <a:br/>
            <a:br/>
            <a:r>
              <a:rPr sz="1500" b="0">
                <a:solidFill>
                  <a:srgbClr val="F8FAFF"/>
                </a:solidFill>
                <a:latin typeface="Courier New"/>
              </a:rPr>
              <a:t>turtle.Screen()</a:t>
            </a:r>
            <a:br/>
            <a:r>
              <a:rPr sz="1500" b="0">
                <a:solidFill>
                  <a:srgbClr val="F8FAFF"/>
                </a:solidFill>
                <a:latin typeface="Courier New"/>
              </a:rPr>
              <a:t>turtle.shape("turtle")</a:t>
            </a:r>
            <a:br/>
            <a:br/>
            <a:r>
              <a:rPr sz="1500" b="0">
                <a:solidFill>
                  <a:srgbClr val="F8FAFF"/>
                </a:solidFill>
                <a:latin typeface="Courier New"/>
              </a:rPr>
              <a:t># Write your assessment code here</a:t>
            </a:r>
            <a:br/>
            <a:br/>
            <a:r>
              <a:rPr sz="1500" b="0">
                <a:solidFill>
                  <a:srgbClr val="F8FAFF"/>
                </a:solidFill>
                <a:latin typeface="Courier New"/>
              </a:rPr>
              <a:t>turtle.done()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1900" b="1">
                <a:solidFill>
                  <a:srgbClr val="FFB124"/>
                </a:solidFill>
                <a:latin typeface="Arial"/>
              </a:rPr>
              <a:t>Save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965960"/>
            <a:ext cx="54864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1200" b="0">
                <a:solidFill>
                  <a:srgbClr val="F8FAFF"/>
                </a:solidFill>
                <a:latin typeface="Courier New"/>
              </a:rPr>
              <a:t>G7_U2_M3_GeometryAssessment_&lt;Name&gt;.py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880360"/>
            <a:ext cx="4389120" cy="1280160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FFB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3063240"/>
            <a:ext cx="393192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1600" b="1">
                <a:solidFill>
                  <a:srgbClr val="FFB124"/>
                </a:solidFill>
                <a:latin typeface="Arial"/>
              </a:rPr>
              <a:t>Tool Note – Thonny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474720"/>
            <a:ext cx="39319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400" b="0">
                <a:solidFill>
                  <a:srgbClr val="9EABC5"/>
                </a:solidFill>
                <a:latin typeface="Arial"/>
              </a:rPr>
              <a:t>חלון Turtle נפתח בנפרד. סגרו חלון ישן אם הוא מפריע להרצה.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64808"/>
            <a:ext cx="128016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rtl="0"/>
            <a:r>
              <a:rPr sz="700" b="0">
                <a:solidFill>
                  <a:srgbClr val="60708D"/>
                </a:solidFill>
                <a:latin typeface="Arial"/>
              </a:rPr>
              <a:t>G7 · U2 · M3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0"/>
            <a:r>
              <a:rPr sz="700" b="0">
                <a:solidFill>
                  <a:srgbClr val="60708D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/>
            <a:r>
              <a:rPr sz="2400" b="1">
                <a:solidFill>
                  <a:srgbClr val="F8FAFF"/>
                </a:solidFill>
                <a:latin typeface="Arial"/>
              </a:rPr>
              <a:t>מיקרו-הערכה — מלבן 120 × 70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61320" y="841248"/>
            <a:ext cx="548640" cy="0"/>
          </a:xfrm>
          <a:prstGeom prst="line">
            <a:avLst/>
          </a:prstGeom>
          <a:ln w="27940">
            <a:solidFill>
              <a:srgbClr val="FF4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600" b="1">
                <a:solidFill>
                  <a:srgbClr val="FF4C7D"/>
                </a:solidFill>
                <a:latin typeface="Arial"/>
              </a:rPr>
              <a:t>זמן מוגן: 64–82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4846320" cy="2468880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23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38912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1700" b="1">
                <a:solidFill>
                  <a:srgbClr val="23CFC4"/>
                </a:solidFill>
                <a:latin typeface="Arial"/>
              </a:rPr>
              <a:t>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331720"/>
            <a:ext cx="4114800" cy="12344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900" b="1">
                <a:solidFill>
                  <a:srgbClr val="F8FAFF"/>
                </a:solidFill>
                <a:latin typeface="Arial"/>
              </a:rPr>
              <a:t>רוחב 120</a:t>
            </a:r>
            <a:br/>
            <a:r>
              <a:rPr sz="1900" b="1">
                <a:solidFill>
                  <a:srgbClr val="F8FAFF"/>
                </a:solidFill>
                <a:latin typeface="Arial"/>
              </a:rPr>
              <a:t>גובה 70</a:t>
            </a:r>
            <a:br/>
            <a:r>
              <a:rPr sz="1900" b="1">
                <a:solidFill>
                  <a:srgbClr val="F8FAFF"/>
                </a:solidFill>
                <a:latin typeface="Arial"/>
              </a:rPr>
              <a:t>סגור</a:t>
            </a:r>
            <a:br/>
            <a:r>
              <a:rPr sz="1900" b="1">
                <a:solidFill>
                  <a:srgbClr val="F8FAFF"/>
                </a:solidFill>
                <a:latin typeface="Arial"/>
              </a:rPr>
              <a:t>בסיום פונים שוב ימינה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645920"/>
            <a:ext cx="4846320" cy="2468880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FFB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38912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1700" b="1">
                <a:solidFill>
                  <a:srgbClr val="FFB124"/>
                </a:solidFill>
                <a:latin typeface="Arial"/>
              </a:rPr>
              <a:t>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331720"/>
            <a:ext cx="4297680" cy="12344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700" b="0">
                <a:solidFill>
                  <a:srgbClr val="F8FAFF"/>
                </a:solidFill>
                <a:latin typeface="Arial"/>
              </a:rPr>
              <a:t>בדיוק 8 הוראות</a:t>
            </a:r>
            <a:br/>
            <a:r>
              <a:rPr sz="1700" b="0">
                <a:solidFill>
                  <a:srgbClr val="F8FAFF"/>
                </a:solidFill>
                <a:latin typeface="Arial"/>
              </a:rPr>
              <a:t>forward + left/right בלבד</a:t>
            </a:r>
            <a:br/>
            <a:r>
              <a:rPr sz="1700" b="0">
                <a:solidFill>
                  <a:srgbClr val="F8FAFF"/>
                </a:solidFill>
                <a:latin typeface="Arial"/>
              </a:rPr>
              <a:t>בלי loop / variables / coordinates</a:t>
            </a:r>
            <a:br/>
            <a:r>
              <a:rPr sz="1700" b="0">
                <a:solidFill>
                  <a:srgbClr val="F8FAFF"/>
                </a:solidFill>
                <a:latin typeface="Arial"/>
              </a:rPr>
              <a:t>+ comment אחד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00600"/>
            <a:ext cx="1069848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800" b="1">
                <a:solidFill>
                  <a:srgbClr val="F8FAFF"/>
                </a:solidFill>
                <a:latin typeface="Arial"/>
              </a:rPr>
              <a:t>לפני Run: שרטוט + 120/70/120/70 + בחירת כיוון פניות + כיוון סיום.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64808"/>
            <a:ext cx="128016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rtl="0"/>
            <a:r>
              <a:rPr sz="700" b="0">
                <a:solidFill>
                  <a:srgbClr val="60708D"/>
                </a:solidFill>
                <a:latin typeface="Arial"/>
              </a:rPr>
              <a:t>G7 · U2 · M3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0"/>
            <a:r>
              <a:rPr sz="700" b="0">
                <a:solidFill>
                  <a:srgbClr val="60708D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/>
            <a:r>
              <a:rPr sz="2400" b="1">
                <a:solidFill>
                  <a:srgbClr val="F8FAFF"/>
                </a:solidFill>
                <a:latin typeface="Arial"/>
              </a:rPr>
              <a:t>מה נבדק?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61320" y="841248"/>
            <a:ext cx="548640" cy="0"/>
          </a:xfrm>
          <a:prstGeom prst="line">
            <a:avLst/>
          </a:prstGeom>
          <a:ln w="27940">
            <a:solidFill>
              <a:srgbClr val="23C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94360" y="1325880"/>
            <a:ext cx="3337560" cy="1417320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FFB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90472"/>
            <a:ext cx="306324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1600" b="1">
                <a:solidFill>
                  <a:srgbClr val="FFB124"/>
                </a:solidFill>
                <a:latin typeface="Arial"/>
              </a:rPr>
              <a:t>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984248"/>
            <a:ext cx="30175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500" b="0">
                <a:solidFill>
                  <a:srgbClr val="F8FAFF"/>
                </a:solidFill>
                <a:latin typeface="Arial"/>
              </a:rPr>
              <a:t>יש שרטוט לפני 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337560" cy="1417320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23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90472"/>
            <a:ext cx="306324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1600" b="1">
                <a:solidFill>
                  <a:srgbClr val="23CFC4"/>
                </a:solidFill>
                <a:latin typeface="Arial"/>
              </a:rPr>
              <a:t>Geometry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2" y="1984248"/>
            <a:ext cx="30175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1500" b="0">
                <a:solidFill>
                  <a:srgbClr val="F8FAFF"/>
                </a:solidFill>
                <a:latin typeface="Arial"/>
              </a:rPr>
              <a:t>120 / 70 / 120 / 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325880"/>
            <a:ext cx="3337560" cy="1417320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43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490472"/>
            <a:ext cx="306324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1600" b="1">
                <a:solidFill>
                  <a:srgbClr val="4389FF"/>
                </a:solidFill>
                <a:latin typeface="Arial"/>
              </a:rPr>
              <a:t>Turns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1984248"/>
            <a:ext cx="30175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500" b="0">
                <a:solidFill>
                  <a:srgbClr val="F8FAFF"/>
                </a:solidFill>
                <a:latin typeface="Arial"/>
              </a:rPr>
              <a:t>4 × 90° עקביים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291839"/>
            <a:ext cx="3337560" cy="1417320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FF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56432"/>
            <a:ext cx="306324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1600" b="1">
                <a:solidFill>
                  <a:srgbClr val="FF4C7D"/>
                </a:solidFill>
                <a:latin typeface="Arial"/>
              </a:rPr>
              <a:t>Closure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3950207"/>
            <a:ext cx="30175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500" b="0">
                <a:solidFill>
                  <a:srgbClr val="F8FAFF"/>
                </a:solidFill>
                <a:latin typeface="Arial"/>
              </a:rPr>
              <a:t>חוזר לנקודת ההתחלה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291839"/>
            <a:ext cx="3337560" cy="1417320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FFB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456432"/>
            <a:ext cx="306324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1600" b="1">
                <a:solidFill>
                  <a:srgbClr val="FFB124"/>
                </a:solidFill>
                <a:latin typeface="Arial"/>
              </a:rPr>
              <a:t>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3950207"/>
            <a:ext cx="30175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500" b="0">
                <a:solidFill>
                  <a:srgbClr val="F8FAFF"/>
                </a:solidFill>
                <a:latin typeface="Arial"/>
              </a:rPr>
              <a:t>כיוון הסיום חוזר להתחלה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3291839"/>
            <a:ext cx="3337560" cy="1417320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23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456432"/>
            <a:ext cx="306324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1600" b="1">
                <a:solidFill>
                  <a:srgbClr val="23CFC4"/>
                </a:solidFill>
                <a:latin typeface="Arial"/>
              </a:rPr>
              <a:t>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3950207"/>
            <a:ext cx="30175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500" b="0">
                <a:solidFill>
                  <a:srgbClr val="F8FAFF"/>
                </a:solidFill>
                <a:latin typeface="Arial"/>
              </a:rPr>
              <a:t>8 הוראות + comment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600" b="0">
                <a:solidFill>
                  <a:srgbClr val="9EABC5"/>
                </a:solidFill>
                <a:latin typeface="Arial"/>
              </a:rPr>
              <a:t>Final output בלבד אינו מספיק — אנחנו בודקים גם reasoning ו-debugging.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6464808"/>
            <a:ext cx="128016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rtl="0"/>
            <a:r>
              <a:rPr sz="700" b="0">
                <a:solidFill>
                  <a:srgbClr val="60708D"/>
                </a:solidFill>
                <a:latin typeface="Arial"/>
              </a:rPr>
              <a:t>G7 · U2 · M3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0"/>
            <a:r>
              <a:rPr sz="700" b="0">
                <a:solidFill>
                  <a:srgbClr val="60708D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/>
            <a:r>
              <a:rPr sz="2400" b="1">
                <a:solidFill>
                  <a:srgbClr val="F8FAFF"/>
                </a:solidFill>
                <a:latin typeface="Arial"/>
              </a:rPr>
              <a:t>Self-Check לפני Save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61320" y="841248"/>
            <a:ext cx="548640" cy="0"/>
          </a:xfrm>
          <a:prstGeom prst="line">
            <a:avLst/>
          </a:prstGeom>
          <a:ln w="27940">
            <a:solidFill>
              <a:srgbClr val="43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822960" y="1325880"/>
            <a:ext cx="4937760" cy="841248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23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27048"/>
            <a:ext cx="45720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/>
            <a:r>
              <a:rPr sz="1700" b="1">
                <a:solidFill>
                  <a:srgbClr val="F8FAFF"/>
                </a:solidFill>
                <a:latin typeface="Arial"/>
              </a:rPr>
              <a:t>✓  4 צלעות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25880"/>
            <a:ext cx="4937760" cy="841248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23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27048"/>
            <a:ext cx="45720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/>
            <a:r>
              <a:rPr sz="1700" b="1">
                <a:solidFill>
                  <a:srgbClr val="F8FAFF"/>
                </a:solidFill>
                <a:latin typeface="Arial"/>
              </a:rPr>
              <a:t>✓  צלעות נגדיות שוות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60320"/>
            <a:ext cx="4937760" cy="841248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FFB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61488"/>
            <a:ext cx="45720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/>
            <a:r>
              <a:rPr sz="1700" b="1">
                <a:solidFill>
                  <a:srgbClr val="F8FAFF"/>
                </a:solidFill>
                <a:latin typeface="Arial"/>
              </a:rPr>
              <a:t>✓  4 פניות של 90°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560320"/>
            <a:ext cx="4937760" cy="841248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FFB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61488"/>
            <a:ext cx="45720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/>
            <a:r>
              <a:rPr sz="1700" b="1">
                <a:solidFill>
                  <a:srgbClr val="F8FAFF"/>
                </a:solidFill>
                <a:latin typeface="Arial"/>
              </a:rPr>
              <a:t>✓  המלבן נסגר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94760"/>
            <a:ext cx="4937760" cy="841248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43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95928"/>
            <a:ext cx="45720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/>
            <a:r>
              <a:rPr sz="1700" b="1">
                <a:solidFill>
                  <a:srgbClr val="F8FAFF"/>
                </a:solidFill>
                <a:latin typeface="Arial"/>
              </a:rPr>
              <a:t>✓  כיוון הסיום שוחזר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794760"/>
            <a:ext cx="4937760" cy="841248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43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995928"/>
            <a:ext cx="457200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/>
            <a:r>
              <a:rPr sz="1700" b="1">
                <a:solidFill>
                  <a:srgbClr val="F8FAFF"/>
                </a:solidFill>
                <a:latin typeface="Arial"/>
              </a:rPr>
              <a:t>✓  8 הוראות + comment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1800" b="1">
                <a:solidFill>
                  <a:srgbClr val="FF4C7D"/>
                </a:solidFill>
                <a:latin typeface="Arial"/>
              </a:rPr>
              <a:t>Mismatch? מצאו את ההוראה הראשונה שלא עושה את מה שהתכוונתם.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464808"/>
            <a:ext cx="128016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rtl="0"/>
            <a:r>
              <a:rPr sz="700" b="0">
                <a:solidFill>
                  <a:srgbClr val="60708D"/>
                </a:solidFill>
                <a:latin typeface="Arial"/>
              </a:rPr>
              <a:t>G7 · U2 · M3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0"/>
            <a:r>
              <a:rPr sz="700" b="0">
                <a:solidFill>
                  <a:srgbClr val="60708D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/>
            <a:r>
              <a:rPr sz="2400" b="1">
                <a:solidFill>
                  <a:srgbClr val="F8FAFF"/>
                </a:solidFill>
                <a:latin typeface="Arial"/>
              </a:rPr>
              <a:t>Exit Check — הצורה נסגרה. לאן הצב פונה?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61320" y="841248"/>
            <a:ext cx="548640" cy="0"/>
          </a:xfrm>
          <a:prstGeom prst="line">
            <a:avLst/>
          </a:prstGeom>
          <a:ln w="27940">
            <a:solidFill>
              <a:srgbClr val="23C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640080" y="1188720"/>
            <a:ext cx="4389120" cy="3108960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112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280160"/>
            <a:ext cx="4059935" cy="292607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rtl="0"/>
            <a:r>
              <a:rPr sz="1500" b="0">
                <a:solidFill>
                  <a:srgbClr val="F8FAFF"/>
                </a:solidFill>
                <a:latin typeface="Courier New"/>
              </a:rPr>
              <a:t>turtle.forward(60)</a:t>
            </a:r>
            <a:br/>
            <a:r>
              <a:rPr sz="1500" b="0">
                <a:solidFill>
                  <a:srgbClr val="F8FAFF"/>
                </a:solidFill>
                <a:latin typeface="Courier New"/>
              </a:rPr>
              <a:t>turtle.right(90)</a:t>
            </a:r>
            <a:br/>
            <a:r>
              <a:rPr sz="1500" b="0">
                <a:solidFill>
                  <a:srgbClr val="F8FAFF"/>
                </a:solidFill>
                <a:latin typeface="Courier New"/>
              </a:rPr>
              <a:t>turtle.forward(40)</a:t>
            </a:r>
            <a:br/>
            <a:r>
              <a:rPr sz="1500" b="0">
                <a:solidFill>
                  <a:srgbClr val="F8FAFF"/>
                </a:solidFill>
                <a:latin typeface="Courier New"/>
              </a:rPr>
              <a:t>turtle.right(90)</a:t>
            </a:r>
            <a:br/>
            <a:r>
              <a:rPr sz="1500" b="0">
                <a:solidFill>
                  <a:srgbClr val="F8FAFF"/>
                </a:solidFill>
                <a:latin typeface="Courier New"/>
              </a:rPr>
              <a:t>turtle.forward(60)</a:t>
            </a:r>
            <a:br/>
            <a:r>
              <a:rPr sz="1500" b="0">
                <a:solidFill>
                  <a:srgbClr val="F8FAFF"/>
                </a:solidFill>
                <a:latin typeface="Courier New"/>
              </a:rPr>
              <a:t>turtle.right(90)</a:t>
            </a:r>
            <a:br/>
            <a:r>
              <a:rPr sz="1500" b="0">
                <a:solidFill>
                  <a:srgbClr val="F8FAFF"/>
                </a:solidFill>
                <a:latin typeface="Courier New"/>
              </a:rPr>
              <a:t>turtle.forward(40)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554480"/>
            <a:ext cx="1828800" cy="2103120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607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691640"/>
            <a:ext cx="6400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1600" b="1">
                <a:solidFill>
                  <a:srgbClr val="F8FAFF"/>
                </a:solidFill>
                <a:latin typeface="Arial"/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6446520" y="2423160"/>
            <a:ext cx="73152" cy="73152"/>
          </a:xfrm>
          <a:prstGeom prst="ellipse">
            <a:avLst/>
          </a:prstGeom>
          <a:solidFill>
            <a:srgbClr val="23CFC4"/>
          </a:solidFill>
          <a:ln>
            <a:solidFill>
              <a:srgbClr val="23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519672" y="2459736"/>
            <a:ext cx="475488" cy="0"/>
          </a:xfrm>
          <a:prstGeom prst="line">
            <a:avLst/>
          </a:prstGeom>
          <a:ln w="31750">
            <a:solidFill>
              <a:srgbClr val="23C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6870801" y="2379268"/>
            <a:ext cx="124359" cy="80468"/>
          </a:xfrm>
          <a:prstGeom prst="line">
            <a:avLst/>
          </a:prstGeom>
          <a:ln w="31750">
            <a:solidFill>
              <a:srgbClr val="23C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870801" y="2459736"/>
            <a:ext cx="124359" cy="80467"/>
          </a:xfrm>
          <a:prstGeom prst="line">
            <a:avLst/>
          </a:prstGeom>
          <a:ln w="31750">
            <a:solidFill>
              <a:srgbClr val="23C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863840" y="1554480"/>
            <a:ext cx="1828800" cy="2103120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23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691640"/>
            <a:ext cx="6400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1600" b="1">
                <a:solidFill>
                  <a:srgbClr val="23CFC4"/>
                </a:solidFill>
                <a:latin typeface="Arial"/>
              </a:rPr>
              <a:t>B</a:t>
            </a:r>
          </a:p>
        </p:txBody>
      </p:sp>
      <p:sp>
        <p:nvSpPr>
          <p:cNvPr id="14" name="Oval 13"/>
          <p:cNvSpPr/>
          <p:nvPr/>
        </p:nvSpPr>
        <p:spPr>
          <a:xfrm>
            <a:off x="8641080" y="2240280"/>
            <a:ext cx="73152" cy="73152"/>
          </a:xfrm>
          <a:prstGeom prst="ellipse">
            <a:avLst/>
          </a:prstGeom>
          <a:solidFill>
            <a:srgbClr val="23CFC4"/>
          </a:solidFill>
          <a:ln>
            <a:solidFill>
              <a:srgbClr val="23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8677655" y="2276856"/>
            <a:ext cx="0" cy="475488"/>
          </a:xfrm>
          <a:prstGeom prst="line">
            <a:avLst/>
          </a:prstGeom>
          <a:ln w="31750">
            <a:solidFill>
              <a:srgbClr val="23C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597188" y="2276856"/>
            <a:ext cx="80467" cy="124358"/>
          </a:xfrm>
          <a:prstGeom prst="line">
            <a:avLst/>
          </a:prstGeom>
          <a:ln w="31750">
            <a:solidFill>
              <a:srgbClr val="23C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677655" y="2276856"/>
            <a:ext cx="80468" cy="124358"/>
          </a:xfrm>
          <a:prstGeom prst="line">
            <a:avLst/>
          </a:prstGeom>
          <a:ln w="31750">
            <a:solidFill>
              <a:srgbClr val="23C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058400" y="1554480"/>
            <a:ext cx="1828800" cy="2103120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607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52760" y="1691640"/>
            <a:ext cx="64008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1600" b="1">
                <a:solidFill>
                  <a:srgbClr val="F8FAFF"/>
                </a:solidFill>
                <a:latin typeface="Arial"/>
              </a:rPr>
              <a:t>C</a:t>
            </a:r>
          </a:p>
        </p:txBody>
      </p:sp>
      <p:sp>
        <p:nvSpPr>
          <p:cNvPr id="20" name="Oval 19"/>
          <p:cNvSpPr/>
          <p:nvPr/>
        </p:nvSpPr>
        <p:spPr>
          <a:xfrm>
            <a:off x="10469880" y="2240280"/>
            <a:ext cx="73152" cy="73152"/>
          </a:xfrm>
          <a:prstGeom prst="ellipse">
            <a:avLst/>
          </a:prstGeom>
          <a:solidFill>
            <a:srgbClr val="23CFC4"/>
          </a:solidFill>
          <a:ln>
            <a:solidFill>
              <a:srgbClr val="23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0506455" y="2313432"/>
            <a:ext cx="0" cy="475488"/>
          </a:xfrm>
          <a:prstGeom prst="line">
            <a:avLst/>
          </a:prstGeom>
          <a:ln w="31750">
            <a:solidFill>
              <a:srgbClr val="23C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10425988" y="2664561"/>
            <a:ext cx="80467" cy="124359"/>
          </a:xfrm>
          <a:prstGeom prst="line">
            <a:avLst/>
          </a:prstGeom>
          <a:ln w="31750">
            <a:solidFill>
              <a:srgbClr val="23C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506455" y="2664561"/>
            <a:ext cx="80468" cy="124359"/>
          </a:xfrm>
          <a:prstGeom prst="line">
            <a:avLst/>
          </a:prstGeom>
          <a:ln w="31750">
            <a:solidFill>
              <a:srgbClr val="23C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4526280"/>
            <a:ext cx="1115568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2000" b="1">
                <a:solidFill>
                  <a:srgbClr val="F8FAFF"/>
                </a:solidFill>
                <a:latin typeface="Arial"/>
              </a:rPr>
              <a:t>1. האם המלבן סגור?   2. מה כיוון הסיום?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74920"/>
            <a:ext cx="1115568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1600" b="1">
                <a:solidFill>
                  <a:srgbClr val="FFB124"/>
                </a:solidFill>
                <a:latin typeface="Arial"/>
              </a:rPr>
              <a:t>Position ≠ Direction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464808"/>
            <a:ext cx="128016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rtl="0"/>
            <a:r>
              <a:rPr sz="700" b="0">
                <a:solidFill>
                  <a:srgbClr val="60708D"/>
                </a:solidFill>
                <a:latin typeface="Arial"/>
              </a:rPr>
              <a:t>G7 · U2 · M3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0"/>
            <a:r>
              <a:rPr sz="700" b="0">
                <a:solidFill>
                  <a:srgbClr val="60708D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/>
            <a:r>
              <a:rPr sz="2400" b="1">
                <a:solidFill>
                  <a:srgbClr val="F8FAFF"/>
                </a:solidFill>
                <a:latin typeface="Arial"/>
              </a:rPr>
              <a:t>Unit 2 — סיימנו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561320" y="841248"/>
            <a:ext cx="548640" cy="0"/>
          </a:xfrm>
          <a:prstGeom prst="line">
            <a:avLst/>
          </a:prstGeom>
          <a:ln w="27940">
            <a:solidFill>
              <a:srgbClr val="23C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417320"/>
            <a:ext cx="1069848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1900" b="1">
                <a:solidFill>
                  <a:srgbClr val="23CFC4"/>
                </a:solidFill>
                <a:latin typeface="Arial"/>
              </a:rPr>
              <a:t>Move → Turn → Control State → Predict → Debug → Build Geometry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1033272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/>
            <a:r>
              <a:rPr sz="2100" b="1">
                <a:solidFill>
                  <a:srgbClr val="F8FAFF"/>
                </a:solidFill>
                <a:latin typeface="Arial"/>
              </a:rPr>
              <a:t>אני מסוגל/ת לקרוא קוד Turtle קצר, לחזות את המסלול, למצוא שגיאה לוגית ולבנות צורה ממפרט.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3977639"/>
            <a:ext cx="6126480" cy="1005840"/>
          </a:xfrm>
          <a:prstGeom prst="roundRect">
            <a:avLst/>
          </a:prstGeom>
          <a:solidFill>
            <a:srgbClr val="11244D"/>
          </a:solidFill>
          <a:ln w="12700">
            <a:solidFill>
              <a:srgbClr val="FFB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6120" y="4261104"/>
            <a:ext cx="566928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1400" b="1">
                <a:solidFill>
                  <a:srgbClr val="FFB124"/>
                </a:solidFill>
                <a:latin typeface="Courier New"/>
              </a:rPr>
              <a:t>Save: G7_U2_M3_GeometryAssessment_&lt;Name&gt;.py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40680"/>
            <a:ext cx="1069848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0"/>
            <a:r>
              <a:rPr sz="1500" b="0">
                <a:solidFill>
                  <a:srgbClr val="9EABC5"/>
                </a:solidFill>
                <a:latin typeface="Arial"/>
              </a:rPr>
              <a:t>היחידה הבאה: Variables, Input/Output &amp; Arithmetic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64808"/>
            <a:ext cx="128016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 rtl="0"/>
            <a:r>
              <a:rPr sz="700" b="0">
                <a:solidFill>
                  <a:srgbClr val="60708D"/>
                </a:solidFill>
                <a:latin typeface="Arial"/>
              </a:rPr>
              <a:t>G7 · U2 · M3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64808"/>
            <a:ext cx="41148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0"/>
            <a:r>
              <a:rPr sz="700" b="0">
                <a:solidFill>
                  <a:srgbClr val="60708D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