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65105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79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G7 · Unit 3 · M2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03720" y="777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יחידה 3 · מפגש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023360" y="15087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Input to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754880" y="23317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חישובים עם משתנים · קלט · פלט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37490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→ Predict → Trace → Run → Check → Modify → Build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9120" y="489204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הנתונים מתחילים לייצר תוצאות.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כבר אנחנו יודעים?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987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1 → Meeting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572000" cy="2057400"/>
          </a:xfrm>
          <a:prstGeom prst="roundRect">
            <a:avLst>
              <a:gd name="adj" fmla="val 3556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45920"/>
            <a:ext cx="416966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7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print("Score:", score)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איזה ערך יודפס?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89320" y="23317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ההשמה השנייה מחליפה את הערך הנוכחי של score.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0" y="3246120"/>
            <a:ext cx="480060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3282696"/>
            <a:ext cx="4654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→ variable → input → 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069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עכשיו נוסיף שלב חדש: חישוב.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פעולות חשבון בסיסיות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4592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D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8745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חיסור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0" y="164592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8745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D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595360" y="1645920"/>
            <a:ext cx="2240280" cy="2148840"/>
          </a:xfrm>
          <a:prstGeom prst="roundRect">
            <a:avLst>
              <a:gd name="adj" fmla="val 3404"/>
            </a:avLst>
          </a:prstGeom>
          <a:solidFill>
            <a:srgbClr val="0C264D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8745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3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32520" y="27889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חילוק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משתמש ב-* לכפל.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לפני Run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987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12, b =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669280" cy="3977640"/>
          </a:xfrm>
          <a:prstGeom prst="roundRect">
            <a:avLst>
              <a:gd name="adj" fmla="val 1839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54480"/>
            <a:ext cx="526694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12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sz="1900" dirty="0"/>
          </a:p>
          <a:p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print("Add:", a + b)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print("Subtract:", a - b)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print("Multiply:", a * b)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print("Divide:", a / b)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903720" y="1481328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609344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13448" y="1956816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903720" y="2468880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448" y="259689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13448" y="294436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03720" y="3456432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3584448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13448" y="3931920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03720" y="4443984"/>
            <a:ext cx="4206240" cy="749808"/>
          </a:xfrm>
          <a:prstGeom prst="roundRect">
            <a:avLst>
              <a:gd name="adj" fmla="val 9756"/>
            </a:avLst>
          </a:prstGeom>
          <a:solidFill>
            <a:srgbClr val="0C264D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457200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13448" y="4919472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5532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 לב במיוחד לתוצאת החילוק.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חישוב יכול להפוך לערך חדש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987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→ Assign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754880" cy="2286000"/>
          </a:xfrm>
          <a:prstGeom prst="roundRect">
            <a:avLst>
              <a:gd name="adj" fmla="val 3200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45920"/>
            <a:ext cx="43525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8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= 3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 * quantity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print("Total:", total)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0" y="14447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715000" y="1874520"/>
            <a:ext cx="1920240" cy="557784"/>
          </a:xfrm>
          <a:prstGeom prst="roundRect">
            <a:avLst>
              <a:gd name="adj" fmla="val 4918"/>
            </a:avLst>
          </a:prstGeom>
          <a:solidFill>
            <a:srgbClr val="12355F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9476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53528" y="187452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12355F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9476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03336" y="1874520"/>
            <a:ext cx="914400" cy="557784"/>
          </a:xfrm>
          <a:prstGeom prst="roundRect">
            <a:avLst>
              <a:gd name="adj" fmla="val 4918"/>
            </a:avLst>
          </a:prstGeom>
          <a:solidFill>
            <a:srgbClr val="12355F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19476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36024" y="187452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12355F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1744" y="194767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085832" y="1874520"/>
            <a:ext cx="1188720" cy="557784"/>
          </a:xfrm>
          <a:prstGeom prst="roundRect">
            <a:avLst>
              <a:gd name="adj" fmla="val 4918"/>
            </a:avLst>
          </a:prstGeom>
          <a:solidFill>
            <a:srgbClr val="12355F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31552" y="19476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2468880"/>
            <a:ext cx="192024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542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= 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3528" y="246888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9248" y="2542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03336" y="2468880"/>
            <a:ext cx="91440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254203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36024" y="246888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2542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85832" y="2468880"/>
            <a:ext cx="118872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31552" y="2542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3063240"/>
            <a:ext cx="192024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136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=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53528" y="306324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31363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03336" y="3063240"/>
            <a:ext cx="91440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49056" y="31363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36024" y="306324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81744" y="313639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85832" y="3063240"/>
            <a:ext cx="118872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31552" y="31363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15000" y="3657600"/>
            <a:ext cx="192024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730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...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53528" y="365760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37307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03336" y="3657600"/>
            <a:ext cx="91440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9056" y="37307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36024" y="365760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81744" y="37307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085832" y="3657600"/>
            <a:ext cx="1188720" cy="557784"/>
          </a:xfrm>
          <a:prstGeom prst="roundRect">
            <a:avLst>
              <a:gd name="adj" fmla="val 4918"/>
            </a:avLst>
          </a:prstGeom>
          <a:solidFill>
            <a:srgbClr val="0C264D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31552" y="37307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715000" y="4251960"/>
            <a:ext cx="192024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4325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print(...)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53528" y="425196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9248" y="4325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03336" y="4251960"/>
            <a:ext cx="91440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49056" y="432511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36024" y="4251960"/>
            <a:ext cx="73152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81744" y="43251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085832" y="4251960"/>
            <a:ext cx="1188720" cy="557784"/>
          </a:xfrm>
          <a:prstGeom prst="roundRect">
            <a:avLst>
              <a:gd name="adj" fmla="val 4918"/>
            </a:avLst>
          </a:prstGeom>
          <a:solidFill>
            <a:srgbClr val="102C51"/>
          </a:solidFill>
          <a:ln w="5080">
            <a:solidFill>
              <a:srgbClr val="0818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31552" y="4325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06440" y="5166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מחשבים → שומרים בשם → משתמשים בהמשך.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לעומת //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987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אותם מספרים, משמעות שונה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828800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822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תוצאת החילוק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828800"/>
            <a:ext cx="3895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// 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31546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3822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קבוצות שלמות נכנסות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5074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עובדים עם מספרים שלמים חיוביים.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= שארית חלוקה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פריטים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0C264D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2004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2004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566160" y="20116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0C264D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2004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32004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46520" y="201168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0C264D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09560" y="25146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32004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3200400"/>
            <a:ext cx="274320" cy="274320"/>
          </a:xfrm>
          <a:prstGeom prst="ellipse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3886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9281160" y="201168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0C264D"/>
          </a:solidFill>
          <a:ln w="12700">
            <a:solidFill>
              <a:srgbClr val="F0A5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38360" y="2743200"/>
            <a:ext cx="274320" cy="274320"/>
          </a:xfrm>
          <a:prstGeom prst="ellipse">
            <a:avLst/>
          </a:prstGeom>
          <a:solidFill>
            <a:srgbClr val="F0A51A"/>
          </a:solidFill>
          <a:ln w="12700">
            <a:solidFill>
              <a:srgbClr val="F0A5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2743200"/>
            <a:ext cx="274320" cy="274320"/>
          </a:xfrm>
          <a:prstGeom prst="ellipse">
            <a:avLst/>
          </a:prstGeom>
          <a:solidFill>
            <a:srgbClr val="F0A51A"/>
          </a:solidFill>
          <a:ln w="12700">
            <a:solidFill>
              <a:srgbClr val="F0A5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נשארו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06240" y="5074920"/>
            <a:ext cx="374904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5111496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17 % 5 =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תשובות לאותה חלוקה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9202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712" y="1956816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// 5 =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86600" y="19202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9752" y="1956816"/>
            <a:ext cx="3877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17 % 5 =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קבוצות מלאות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פריטים שנשארו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39776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= 3 × 5 + 2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11680" y="49834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עונה על "כמה קבוצות שלמות?"  ·  % עונה על "כמה נשאר?"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Calculate → Output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18488"/>
            <a:ext cx="5084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int(input("Price: "))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= int(input("Quantity: "))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 * quantity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print("Total:", total)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20840" y="1847088"/>
            <a:ext cx="841248" cy="1325880"/>
          </a:xfrm>
          <a:prstGeom prst="roundRect">
            <a:avLst>
              <a:gd name="adj" fmla="val 8696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30568" y="19751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30568" y="2322576"/>
            <a:ext cx="621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534656" y="22677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08392" y="1847088"/>
            <a:ext cx="841248" cy="1325880"/>
          </a:xfrm>
          <a:prstGeom prst="roundRect">
            <a:avLst>
              <a:gd name="adj" fmla="val 8696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9751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18120" y="2322576"/>
            <a:ext cx="621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22208" y="22677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95944" y="1847088"/>
            <a:ext cx="841248" cy="1325880"/>
          </a:xfrm>
          <a:prstGeom prst="roundRect">
            <a:avLst>
              <a:gd name="adj" fmla="val 8696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05672" y="19751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05672" y="2322576"/>
            <a:ext cx="621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509760" y="22677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683496" y="1847088"/>
            <a:ext cx="841248" cy="1325880"/>
          </a:xfrm>
          <a:prstGeom prst="roundRect">
            <a:avLst>
              <a:gd name="adj" fmla="val 8696"/>
            </a:avLst>
          </a:prstGeom>
          <a:solidFill>
            <a:srgbClr val="0C264D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93224" y="19751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93224" y="2322576"/>
            <a:ext cx="621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0497312" y="226771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671048" y="1847088"/>
            <a:ext cx="841248" cy="1325880"/>
          </a:xfrm>
          <a:prstGeom prst="roundRect">
            <a:avLst>
              <a:gd name="adj" fmla="val 8696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0776" y="197510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0776" y="2322576"/>
            <a:ext cx="6217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83680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האלגוריתם נשאר. הערכים משתנים.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יכול לשלוט גם ב-Turtle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987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קישור קצר ליחידה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54480"/>
            <a:ext cx="46268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turtle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= 80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turtle.forward(side)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turtle.right(90)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turtle.forward(side)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turtle.right(90)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72821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= 80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1968" y="2075688"/>
            <a:ext cx="3986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ריבוע קטן יותר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34290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355701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= 120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01968" y="3904488"/>
            <a:ext cx="3986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ריבוע גדול יותר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72200" y="5166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המבני נשאר זהה. הערך של side משנה את המרחק.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דרך העבודה במעבדה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73936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30552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03704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01568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58184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85816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56832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13448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84464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41080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14232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12096" y="2221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68712" y="2148840"/>
            <a:ext cx="1298448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41864" y="2185416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3977640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משנים לפני שחושבים מה אמור לקרות.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אל תריצו עדיין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5715000" cy="4846320"/>
          </a:xfrm>
          <a:prstGeom prst="roundRect">
            <a:avLst>
              <a:gd name="adj" fmla="val 1509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71600"/>
            <a:ext cx="5312664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5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a + b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 = a - b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a * b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quotient = a / b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print("Add:", total)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print("Subtract:", difference)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print("Multiply:", product)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print("Divide:", quotient)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86600" y="14173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Run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040880" y="2103120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14032" y="2139696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= 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40880" y="2944368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14032" y="2980944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= 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3785616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14032" y="382219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= 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4626864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466344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= 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Progression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325880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538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453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Starter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325880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F0A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538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1453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+ Check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441448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694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2569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&amp; 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441448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ED3B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694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5694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input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557016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685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6850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and % challenge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557016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F0A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68503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68503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672584"/>
            <a:ext cx="4800600" cy="768096"/>
          </a:xfrm>
          <a:prstGeom prst="roundRect">
            <a:avLst>
              <a:gd name="adj" fmla="val 7143"/>
            </a:avLst>
          </a:prstGeom>
          <a:solidFill>
            <a:srgbClr val="0C264D"/>
          </a:solidFill>
          <a:ln w="12700">
            <a:solidFill>
              <a:srgbClr val="ED3B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800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48006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Build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5760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מתחיל בתחזית.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 את הקלטים - לא את הנוסחאות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83080"/>
            <a:ext cx="3712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20</a:t>
            </a:r>
            <a:endParaRPr lang="en-US" sz="2800" dirty="0"/>
          </a:p>
          <a:p>
            <a:pPr algn="l" indent="0" marL="0">
              <a:buNone/>
            </a:pPr>
            <a:r>
              <a:rPr lang="en-US" sz="28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שאר התוכנית נשארת ללא שינוי.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06440" y="2606040"/>
            <a:ext cx="4709160" cy="576072"/>
          </a:xfrm>
          <a:prstGeom prst="roundRect">
            <a:avLst>
              <a:gd name="adj" fmla="val 12698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16168" y="2734056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16168" y="3081528"/>
            <a:ext cx="448970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3355848"/>
            <a:ext cx="4709160" cy="576072"/>
          </a:xfrm>
          <a:prstGeom prst="roundRect">
            <a:avLst>
              <a:gd name="adj" fmla="val 12698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3483864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16168" y="3831336"/>
            <a:ext cx="448970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06440" y="4105656"/>
            <a:ext cx="4709160" cy="576072"/>
          </a:xfrm>
          <a:prstGeom prst="roundRect">
            <a:avLst>
              <a:gd name="adj" fmla="val 12698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16168" y="423367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16168" y="4581144"/>
            <a:ext cx="448970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06440" y="4855464"/>
            <a:ext cx="4709160" cy="576072"/>
          </a:xfrm>
          <a:prstGeom prst="roundRect">
            <a:avLst>
              <a:gd name="adj" fmla="val 12698"/>
            </a:avLst>
          </a:prstGeom>
          <a:solidFill>
            <a:srgbClr val="0C264D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4983480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16168" y="5330952"/>
            <a:ext cx="448970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הנוסחה היא האלגוריתם. a ו-b הם הנתונים.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הפכו את אותה תוכנית לאינטראקטיבית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806440" cy="1691640"/>
          </a:xfrm>
          <a:prstGeom prst="roundRect">
            <a:avLst>
              <a:gd name="adj" fmla="val 4324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783080"/>
            <a:ext cx="5404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int(input("First number: "))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int(input("Second number: "))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086600" y="1572768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9752" y="1609344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667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0" y="1572768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609344"/>
            <a:ext cx="905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57232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195560" y="1572768"/>
            <a:ext cx="105156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ED3B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68712" y="1609344"/>
            <a:ext cx="905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ED3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9260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השאירו את כל שורות החישוב והפלט ללא שינוי.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179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נסו 12 ו-5, ואז זוג אחר.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Quotient &amp; Remainder Challenge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00200"/>
            <a:ext cx="50840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full_groups = a // b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left_over = a % b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print("Full groups:", full_groups)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print("Left over:", left_over)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17   ·   b = 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903720" y="242316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0C264D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2551176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// 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13448" y="2898648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03720" y="370332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3448" y="3831336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%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13448" y="4178808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0840" y="51663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→ Run → Check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Core Task: Packing Calculator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12355F"/>
          </a:solidFill>
          <a:ln w="12700">
            <a:solidFill>
              <a:srgbClr val="1235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71600"/>
            <a:ext cx="5449824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= int(input("How many items? "))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per_pack = int(input("How many items per pack? "))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full_packs = __________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left_over = __________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print("Full packs:", full_packs)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print("Left over:", left_over)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4389120" cy="3246120"/>
          </a:xfrm>
          <a:prstGeom prst="roundRect">
            <a:avLst>
              <a:gd name="adj" fmla="val 2254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212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 numeric inputs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0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full_packs uses //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33467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left_over uses 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3913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 friendly output lines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95160" y="5074920"/>
            <a:ext cx="4206240" cy="457200"/>
          </a:xfrm>
          <a:prstGeom prst="roundRect">
            <a:avLst>
              <a:gd name="adj" fmla="val 24000"/>
            </a:avLst>
          </a:prstGeom>
          <a:solidFill>
            <a:srgbClr val="081838"/>
          </a:solidFill>
          <a:ln w="15240">
            <a:solidFill>
              <a:srgbClr val="1FD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5111496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D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items · 5 per pack → 3 + 2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7_Unit3_M2_Final/G7_U3_M2_Exit_Check_HE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9080" y="292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סיימנו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671048" y="932688"/>
            <a:ext cx="841248" cy="32004"/>
          </a:xfrm>
          <a:prstGeom prst="rect">
            <a:avLst/>
          </a:prstGeom>
          <a:solidFill>
            <a:srgbClr val="1FD2D0"/>
          </a:solidFill>
          <a:ln w="12700">
            <a:solidFill>
              <a:srgbClr val="1F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987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7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checkpoint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1720" y="1600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D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convert → calculate → trace → output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65960" y="26060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יכול/ה לבחור משתנים, לקלוט נתונים, לבצע חישוב ולעקוב אחרי התוצאה.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749040" y="3886200"/>
            <a:ext cx="4709160" cy="1097280"/>
          </a:xfrm>
          <a:prstGeom prst="roundRect">
            <a:avLst>
              <a:gd name="adj" fmla="val 6667"/>
            </a:avLst>
          </a:prstGeom>
          <a:solidFill>
            <a:srgbClr val="0C264D"/>
          </a:solidFill>
          <a:ln w="15240">
            <a:solidFill>
              <a:srgbClr val="F0A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40690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0A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הבא: Unit 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44074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 Execution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8798B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Givat Haviva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Input to Result</dc:title>
  <dc:subject>Grade 7 Python A Unit 3 Meeting 2</dc:subject>
  <dc:creator>OpenAI</dc:creator>
  <cp:lastModifiedBy>OpenAI</cp:lastModifiedBy>
  <cp:revision>1</cp:revision>
  <dcterms:created xsi:type="dcterms:W3CDTF">2026-09-01T13:07:19Z</dcterms:created>
  <dcterms:modified xsi:type="dcterms:W3CDTF">2026-09-01T13:07:19Z</dcterms:modified>
</cp:coreProperties>
</file>